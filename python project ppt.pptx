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700C529-D5E8-821A-4AF5-5ED9CB467879}">
          <p14:sldIdLst>
            <p14:sldId id="256"/>
          </p14:sldIdLst>
        </p14:section>
        <p14:section name="Background" id="{14ACB2E7-CCC6-B5AD-5A8F-6923EEA07CF0}">
          <p14:sldIdLst>
            <p14:sldId id="257"/>
            <p14:sldId id="258"/>
            <p14:sldId id="259"/>
            <p14:sldId id="260"/>
          </p14:sldIdLst>
        </p14:section>
        <p14:section name="Design" id="{4B0EE0CB-CBA5-F52B-6225-B1E8AF293B20}">
          <p14:sldIdLst>
            <p14:sldId id="261"/>
            <p14:sldId id="262"/>
            <p14:sldId id="263"/>
            <p14:sldId id="264"/>
            <p14:sldId id="265"/>
          </p14:sldIdLst>
        </p14:section>
        <p14:section name="Implementation" id="{F06D5026-F7D2-CC59-E8A7-95CECC6807D4}">
          <p14:sldIdLst>
            <p14:sldId id="266"/>
            <p14:sldId id="267"/>
            <p14:sldId id="268"/>
          </p14:sldIdLst>
        </p14:section>
        <p14:section name="Evaluation" id="{6DD74275-F662-F3EC-2E85-D32DC75E6038}">
          <p14:sldIdLst>
            <p14:sldId id="269"/>
          </p14:sldIdLst>
        </p14:section>
        <p14:section name="Closing" id="{1A28F9B4-AD4C-9724-E817-609CB6E3D2F8}">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10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and team. Replace the bracketed placeholders with the student names, roll numbers, department, subject name and subject code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most people track spending informally. This project gives them a structured, validated, visual alternative built with syllabus-level Python 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then walk through the four causes. Each one maps to a feature in the proposed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come straight from the project brief. The conclusion slide returns to each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the system targets individual users, runs locally and stores data in files, which is right for a syllabus-level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common ways people track expenses today and the gap this project fills.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key features. The first five come from the project brief; accounts and monthly reports are extensions that make the system usable by more than one person.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development: each module was written, tested with unit tests, then integrated. Tools are all free and taught at syllabus level.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layered design. Each layer talks only to the one below it, which keeps the code easy to test and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level-1 data flow. Bottom: the two data stores. The users table is relational; expenses are kept in one CSV file per user, linked by the user id in the file name.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dashboard with summary cards, searchable transaction list, category breakdown and monthly totals. Right: the Add Expense form with category chips.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Matplotlib bar chart and pie chart generated from the same data as the dashboard. Education is the largest category at 38.5 percent.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plot shows monthly spending; the histogram shows how expense amounts are spread.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are from the demonstration data shown in the dashboard: 19 transactions totalling 727.03 rupees. All 39 automated tests pass.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each objective was met. Right: planned improvements. Close by inviting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in APA style. Add any course textbooks or papers used in your own report.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2B47"/>
        </a:solidFill>
        <a:effectLst/>
      </p:bgPr>
    </p:bg>
    <p:spTree>
      <p:nvGrpSpPr>
        <p:cNvPr id="1" name=""/>
        <p:cNvGrpSpPr/>
        <p:nvPr/>
      </p:nvGrpSpPr>
      <p:grpSpPr>
        <a:xfrm>
          <a:off x="0" y="0"/>
          <a:ext cx="0" cy="0"/>
          <a:chOff x="0" y="0"/>
          <a:chExt cx="0" cy="0"/>
        </a:xfrm>
      </p:grpSpPr>
      <p:pic>
        <p:nvPicPr>
          <p:cNvPr id="2" name="Image 0" descr="Brainware University logo"/>
          <p:cNvPicPr>
            <a:picLocks noChangeAspect="1"/>
          </p:cNvPicPr>
          <p:nvPr/>
        </p:nvPicPr>
        <p:blipFill>
          <a:blip r:embed="rId2"/>
          <a:stretch>
            <a:fillRect/>
          </a:stretch>
        </p:blipFill>
        <p:spPr>
          <a:xfrm>
            <a:off x="10908792" y="274320"/>
            <a:ext cx="731520" cy="731520"/>
          </a:xfrm>
          <a:prstGeom prst="rect">
            <a:avLst/>
          </a:prstGeom>
        </p:spPr>
      </p:pic>
      <p:sp>
        <p:nvSpPr>
          <p:cNvPr id="3" name="Text 0"/>
          <p:cNvSpPr>
            <a:spLocks noGrp="1"/>
          </p:cNvSpPr>
          <p:nvPr>
            <p:ph type="title" idx="101" hasCustomPrompt="1"/>
          </p:nvPr>
        </p:nvSpPr>
        <p:spPr>
          <a:xfrm>
            <a:off x="731520" y="1783080"/>
            <a:ext cx="6583680" cy="21945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Brainware University logo"/>
          <p:cNvPicPr>
            <a:picLocks noChangeAspect="1"/>
          </p:cNvPicPr>
          <p:nvPr/>
        </p:nvPicPr>
        <p:blipFill>
          <a:blip r:embed="rId2"/>
          <a:stretch>
            <a:fillRect/>
          </a:stretch>
        </p:blipFill>
        <p:spPr>
          <a:xfrm>
            <a:off x="10908792" y="274320"/>
            <a:ext cx="731520" cy="731520"/>
          </a:xfrm>
          <a:prstGeom prst="rect">
            <a:avLst/>
          </a:prstGeom>
        </p:spPr>
      </p:pic>
      <p:sp>
        <p:nvSpPr>
          <p:cNvPr id="3" name="Text 0"/>
          <p:cNvSpPr>
            <a:spLocks noGrp="1"/>
          </p:cNvSpPr>
          <p:nvPr>
            <p:ph type="title" idx="101" hasCustomPrompt="1"/>
          </p:nvPr>
        </p:nvSpPr>
        <p:spPr>
          <a:xfrm>
            <a:off x="548640" y="365760"/>
            <a:ext cx="1005840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5B6B7C"/>
                </a:solidFill>
              </a:rPr>
              <a:t>Personal Expense Tracker and Analysis System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2B47"/>
        </a:solidFill>
        <a:effectLst/>
      </p:bgPr>
    </p:bg>
    <p:spTree>
      <p:nvGrpSpPr>
        <p:cNvPr id="1" name=""/>
        <p:cNvGrpSpPr/>
        <p:nvPr/>
      </p:nvGrpSpPr>
      <p:grpSpPr>
        <a:xfrm>
          <a:off x="0" y="0"/>
          <a:ext cx="0" cy="0"/>
          <a:chOff x="0" y="0"/>
          <a:chExt cx="0" cy="0"/>
        </a:xfrm>
      </p:grpSpPr>
      <p:pic>
        <p:nvPicPr>
          <p:cNvPr id="2" name="Image 0" descr="Brainware University logo"/>
          <p:cNvPicPr>
            <a:picLocks noChangeAspect="1"/>
          </p:cNvPicPr>
          <p:nvPr/>
        </p:nvPicPr>
        <p:blipFill>
          <a:blip r:embed="rId2"/>
          <a:stretch>
            <a:fillRect/>
          </a:stretch>
        </p:blipFill>
        <p:spPr>
          <a:xfrm>
            <a:off x="10908792" y="274320"/>
            <a:ext cx="731520" cy="731520"/>
          </a:xfrm>
          <a:prstGeom prst="rect">
            <a:avLst/>
          </a:prstGeom>
        </p:spPr>
      </p:pic>
      <p:sp>
        <p:nvSpPr>
          <p:cNvPr id="3" name="Text 0"/>
          <p:cNvSpPr>
            <a:spLocks noGrp="1"/>
          </p:cNvSpPr>
          <p:nvPr>
            <p:ph type="title" idx="101" hasCustomPrompt="1"/>
          </p:nvPr>
        </p:nvSpPr>
        <p:spPr>
          <a:xfrm>
            <a:off x="548640" y="365760"/>
            <a:ext cx="1005840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C9D3DE"/>
                </a:solidFill>
              </a:rPr>
              <a:t>Personal Expense Tracker and Analysis System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9D3DE"/>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allet icon circle"/>
          <p:cNvSpPr/>
          <p:nvPr/>
        </p:nvSpPr>
        <p:spPr>
          <a:xfrm>
            <a:off x="731520" y="777240"/>
            <a:ext cx="731520" cy="731520"/>
          </a:xfrm>
          <a:prstGeom prst="ellipse">
            <a:avLst/>
          </a:prstGeom>
          <a:solidFill>
            <a:schemeClr val="accent2"/>
          </a:solidFill>
          <a:ln/>
        </p:spPr>
        <p:txBody>
          <a:bodyPr/>
          <a:lstStyle/>
          <a:p>
            <a:endParaRPr lang="en-US"/>
          </a:p>
        </p:txBody>
      </p:sp>
      <p:pic>
        <p:nvPicPr>
          <p:cNvPr id="3" name="Wallet icon" descr="Wallet icon"/>
          <p:cNvPicPr>
            <a:picLocks noChangeAspect="1"/>
          </p:cNvPicPr>
          <p:nvPr/>
        </p:nvPicPr>
        <p:blipFill>
          <a:blip r:embed="rId3"/>
          <a:stretch>
            <a:fillRect/>
          </a:stretch>
        </p:blipFill>
        <p:spPr>
          <a:xfrm>
            <a:off x="929030" y="974750"/>
            <a:ext cx="336499" cy="336499"/>
          </a:xfrm>
          <a:prstGeom prst="rect">
            <a:avLst/>
          </a:prstGeom>
        </p:spPr>
      </p:pic>
      <p:sp>
        <p:nvSpPr>
          <p:cNvPr id="4" name="Text 1"/>
          <p:cNvSpPr txBox="1"/>
          <p:nvPr/>
        </p:nvSpPr>
        <p:spPr>
          <a:xfrm>
            <a:off x="1691640" y="914400"/>
            <a:ext cx="5486400" cy="457200"/>
          </a:xfrm>
          <a:prstGeom prst="rect">
            <a:avLst/>
          </a:prstGeom>
          <a:noFill/>
          <a:ln/>
        </p:spPr>
        <p:txBody>
          <a:bodyPr wrap="square" lIns="0" tIns="0" rIns="0" bIns="0" rtlCol="0" anchor="ctr"/>
          <a:lstStyle/>
          <a:p>
            <a:pPr marL="0" indent="0">
              <a:buNone/>
            </a:pPr>
            <a:r>
              <a:rPr lang="en-US" sz="1600" b="1" kern="0" spc="300" dirty="0">
                <a:solidFill>
                  <a:schemeClr val="accent2"/>
                </a:solidFill>
              </a:rPr>
              <a:t>PYTHON PROJECT REVIEW</a:t>
            </a:r>
            <a:endParaRPr lang="en-US" sz="1600" dirty="0"/>
          </a:p>
        </p:txBody>
      </p:sp>
      <p:sp>
        <p:nvSpPr>
          <p:cNvPr id="5" name="Text 0"/>
          <p:cNvSpPr>
            <a:spLocks noGrp="1"/>
          </p:cNvSpPr>
          <p:nvPr>
            <p:ph type="title" idx="101" hasCustomPrompt="1"/>
          </p:nvPr>
        </p:nvSpPr>
        <p:spPr>
          <a:xfrm>
            <a:off x="731520" y="1783080"/>
            <a:ext cx="6583680" cy="2194560"/>
          </a:xfrm>
          <a:prstGeom prst="rect">
            <a:avLst/>
          </a:prstGeom>
          <a:noFill/>
          <a:ln/>
        </p:spPr>
        <p:txBody>
          <a:bodyPr wrap="square" lIns="0" tIns="0" rIns="0" bIns="0" rtlCol="0" anchor="t"/>
          <a:lstStyle/>
          <a:p>
            <a:pPr marL="0" indent="0" algn="l">
              <a:buNone/>
            </a:pPr>
            <a:r>
              <a:rPr lang="en-US" sz="4400" b="1" dirty="0">
                <a:solidFill>
                  <a:schemeClr val="bg1"/>
                </a:solidFill>
              </a:rPr>
              <a:t>Personal Expense Tracker and Analysis System</a:t>
            </a:r>
            <a:endParaRPr lang="en-US" sz="4400" dirty="0"/>
          </a:p>
        </p:txBody>
      </p:sp>
      <p:sp>
        <p:nvSpPr>
          <p:cNvPr id="6" name="Text 3"/>
          <p:cNvSpPr txBox="1"/>
          <p:nvPr/>
        </p:nvSpPr>
        <p:spPr>
          <a:xfrm>
            <a:off x="731520" y="4206240"/>
            <a:ext cx="6309360" cy="1097280"/>
          </a:xfrm>
          <a:prstGeom prst="rect">
            <a:avLst/>
          </a:prstGeom>
          <a:noFill/>
          <a:ln/>
        </p:spPr>
        <p:txBody>
          <a:bodyPr wrap="square" lIns="0" tIns="0" rIns="0" bIns="0" rtlCol="0" anchor="t"/>
          <a:lstStyle/>
          <a:p>
            <a:pPr marL="0" indent="0">
              <a:buNone/>
            </a:pPr>
            <a:r>
              <a:rPr lang="en-US" sz="2000" dirty="0">
                <a:solidFill>
                  <a:srgbClr val="DCE3EA"/>
                </a:solidFill>
              </a:rPr>
              <a:t>A Python application for recording daily expenses and analysing spending patterns with Pandas and Matplotlib</a:t>
            </a:r>
            <a:endParaRPr lang="en-US" sz="2000" dirty="0"/>
          </a:p>
        </p:txBody>
      </p:sp>
      <p:sp>
        <p:nvSpPr>
          <p:cNvPr id="7" name="Details panel"/>
          <p:cNvSpPr/>
          <p:nvPr/>
        </p:nvSpPr>
        <p:spPr>
          <a:xfrm>
            <a:off x="7772400" y="1325880"/>
            <a:ext cx="3867912" cy="4846320"/>
          </a:xfrm>
          <a:prstGeom prst="roundRect">
            <a:avLst>
              <a:gd name="adj" fmla="val 1891"/>
            </a:avLst>
          </a:prstGeom>
          <a:solidFill>
            <a:schemeClr val="accent1"/>
          </a:solidFill>
          <a:ln/>
        </p:spPr>
        <p:txBody>
          <a:bodyPr/>
          <a:lstStyle/>
          <a:p>
            <a:endParaRPr lang="en-US" dirty="0"/>
          </a:p>
        </p:txBody>
      </p:sp>
      <p:sp>
        <p:nvSpPr>
          <p:cNvPr id="8" name="Text 5"/>
          <p:cNvSpPr txBox="1"/>
          <p:nvPr/>
        </p:nvSpPr>
        <p:spPr>
          <a:xfrm>
            <a:off x="8138160" y="1600200"/>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STUDENT NAME</a:t>
            </a:r>
            <a:endParaRPr lang="en-US" sz="1200" dirty="0"/>
          </a:p>
        </p:txBody>
      </p:sp>
      <p:sp>
        <p:nvSpPr>
          <p:cNvPr id="9" name="Text 6"/>
          <p:cNvSpPr txBox="1"/>
          <p:nvPr/>
        </p:nvSpPr>
        <p:spPr>
          <a:xfrm>
            <a:off x="8138160" y="1901952"/>
            <a:ext cx="3200400" cy="457200"/>
          </a:xfrm>
          <a:prstGeom prst="rect">
            <a:avLst/>
          </a:prstGeom>
          <a:noFill/>
          <a:ln/>
        </p:spPr>
        <p:txBody>
          <a:bodyPr wrap="square" lIns="0" tIns="0" rIns="0" bIns="0" rtlCol="0" anchor="t"/>
          <a:lstStyle/>
          <a:p>
            <a:pPr marL="0" indent="0">
              <a:buNone/>
            </a:pPr>
            <a:r>
              <a:rPr lang="en-US" sz="2000" dirty="0">
                <a:solidFill>
                  <a:schemeClr val="bg1"/>
                </a:solidFill>
              </a:rPr>
              <a:t>Shibam Mitra</a:t>
            </a:r>
            <a:endParaRPr lang="en-US" sz="2000" dirty="0"/>
          </a:p>
        </p:txBody>
      </p:sp>
      <p:sp>
        <p:nvSpPr>
          <p:cNvPr id="10" name="Text 7"/>
          <p:cNvSpPr txBox="1"/>
          <p:nvPr/>
        </p:nvSpPr>
        <p:spPr>
          <a:xfrm>
            <a:off x="8138160" y="2496312"/>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Student Code</a:t>
            </a:r>
            <a:endParaRPr lang="en-US" sz="1200" dirty="0"/>
          </a:p>
        </p:txBody>
      </p:sp>
      <p:sp>
        <p:nvSpPr>
          <p:cNvPr id="11" name="Text 8"/>
          <p:cNvSpPr txBox="1"/>
          <p:nvPr/>
        </p:nvSpPr>
        <p:spPr>
          <a:xfrm>
            <a:off x="8138160" y="2798064"/>
            <a:ext cx="3200400" cy="457200"/>
          </a:xfrm>
          <a:prstGeom prst="rect">
            <a:avLst/>
          </a:prstGeom>
          <a:noFill/>
          <a:ln/>
        </p:spPr>
        <p:txBody>
          <a:bodyPr wrap="square" lIns="0" tIns="0" rIns="0" bIns="0" rtlCol="0" anchor="t"/>
          <a:lstStyle/>
          <a:p>
            <a:pPr marL="0" indent="0">
              <a:buNone/>
            </a:pPr>
            <a:r>
              <a:rPr lang="en-US" sz="2000" dirty="0">
                <a:solidFill>
                  <a:schemeClr val="bg1"/>
                </a:solidFill>
              </a:rPr>
              <a:t>BWU/MCA/26/028</a:t>
            </a:r>
            <a:endParaRPr lang="en-US" sz="2000" dirty="0"/>
          </a:p>
        </p:txBody>
      </p:sp>
      <p:sp>
        <p:nvSpPr>
          <p:cNvPr id="12" name="Text 9"/>
          <p:cNvSpPr txBox="1"/>
          <p:nvPr/>
        </p:nvSpPr>
        <p:spPr>
          <a:xfrm>
            <a:off x="8138160" y="3392424"/>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DEPARTMENT</a:t>
            </a:r>
            <a:endParaRPr lang="en-US" sz="1200" dirty="0"/>
          </a:p>
        </p:txBody>
      </p:sp>
      <p:sp>
        <p:nvSpPr>
          <p:cNvPr id="13" name="Text 10"/>
          <p:cNvSpPr txBox="1"/>
          <p:nvPr/>
        </p:nvSpPr>
        <p:spPr>
          <a:xfrm>
            <a:off x="8138160" y="3694176"/>
            <a:ext cx="3200400" cy="457200"/>
          </a:xfrm>
          <a:prstGeom prst="rect">
            <a:avLst/>
          </a:prstGeom>
          <a:noFill/>
          <a:ln/>
        </p:spPr>
        <p:txBody>
          <a:bodyPr wrap="square" lIns="0" tIns="0" rIns="0" bIns="0" rtlCol="0" anchor="t"/>
          <a:lstStyle/>
          <a:p>
            <a:pPr marL="0" indent="0">
              <a:buNone/>
            </a:pPr>
            <a:r>
              <a:rPr lang="en-US" sz="2000" dirty="0">
                <a:solidFill>
                  <a:schemeClr val="bg1"/>
                </a:solidFill>
              </a:rPr>
              <a:t>CSS</a:t>
            </a:r>
            <a:endParaRPr lang="en-US" sz="2000" dirty="0"/>
          </a:p>
        </p:txBody>
      </p:sp>
      <p:sp>
        <p:nvSpPr>
          <p:cNvPr id="14" name="Text 11"/>
          <p:cNvSpPr txBox="1"/>
          <p:nvPr/>
        </p:nvSpPr>
        <p:spPr>
          <a:xfrm>
            <a:off x="8138160" y="4288536"/>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SUBJECT NAME</a:t>
            </a:r>
            <a:endParaRPr lang="en-US" sz="1200" dirty="0"/>
          </a:p>
        </p:txBody>
      </p:sp>
      <p:sp>
        <p:nvSpPr>
          <p:cNvPr id="15" name="Text 12"/>
          <p:cNvSpPr txBox="1"/>
          <p:nvPr/>
        </p:nvSpPr>
        <p:spPr>
          <a:xfrm>
            <a:off x="8138160" y="4590288"/>
            <a:ext cx="3200400" cy="457200"/>
          </a:xfrm>
          <a:prstGeom prst="rect">
            <a:avLst/>
          </a:prstGeom>
          <a:noFill/>
          <a:ln/>
        </p:spPr>
        <p:txBody>
          <a:bodyPr wrap="square" lIns="0" tIns="0" rIns="0" bIns="0" rtlCol="0" anchor="t"/>
          <a:lstStyle/>
          <a:p>
            <a:pPr marL="0" indent="0">
              <a:buNone/>
            </a:pPr>
            <a:r>
              <a:rPr lang="en-US" sz="2000" dirty="0">
                <a:solidFill>
                  <a:schemeClr val="bg1"/>
                </a:solidFill>
              </a:rPr>
              <a:t>Problem Solving Using Python</a:t>
            </a:r>
            <a:endParaRPr lang="en-US" sz="2000" dirty="0"/>
          </a:p>
        </p:txBody>
      </p:sp>
      <p:sp>
        <p:nvSpPr>
          <p:cNvPr id="16" name="Text 13"/>
          <p:cNvSpPr txBox="1"/>
          <p:nvPr/>
        </p:nvSpPr>
        <p:spPr>
          <a:xfrm>
            <a:off x="8138160" y="5184648"/>
            <a:ext cx="32004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SUBJECT CODE</a:t>
            </a:r>
            <a:endParaRPr lang="en-US" sz="1200" dirty="0"/>
          </a:p>
        </p:txBody>
      </p:sp>
      <p:sp>
        <p:nvSpPr>
          <p:cNvPr id="17" name="Text 14"/>
          <p:cNvSpPr txBox="1"/>
          <p:nvPr/>
        </p:nvSpPr>
        <p:spPr>
          <a:xfrm>
            <a:off x="8138160" y="5486400"/>
            <a:ext cx="3200400" cy="457200"/>
          </a:xfrm>
          <a:prstGeom prst="rect">
            <a:avLst/>
          </a:prstGeom>
          <a:noFill/>
          <a:ln/>
        </p:spPr>
        <p:txBody>
          <a:bodyPr wrap="square" lIns="0" tIns="0" rIns="0" bIns="0" rtlCol="0" anchor="t"/>
          <a:lstStyle/>
          <a:p>
            <a:pPr marL="0" indent="0">
              <a:buNone/>
            </a:pPr>
            <a:r>
              <a:rPr lang="en-US" sz="2000" dirty="0">
                <a:solidFill>
                  <a:schemeClr val="bg1"/>
                </a:solidFill>
              </a:rPr>
              <a:t>MCA17400</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Introduction</a:t>
            </a:r>
            <a:endParaRPr lang="en-US" sz="3400" dirty="0"/>
          </a:p>
        </p:txBody>
      </p:sp>
      <p:sp>
        <p:nvSpPr>
          <p:cNvPr id="4" name="Text 1"/>
          <p:cNvSpPr txBox="1"/>
          <p:nvPr/>
        </p:nvSpPr>
        <p:spPr>
          <a:xfrm>
            <a:off x="548640" y="1417320"/>
            <a:ext cx="5669280" cy="1737360"/>
          </a:xfrm>
          <a:prstGeom prst="rect">
            <a:avLst/>
          </a:prstGeom>
          <a:noFill/>
          <a:ln/>
        </p:spPr>
        <p:txBody>
          <a:bodyPr wrap="square" lIns="0" tIns="0" rIns="0" bIns="0" rtlCol="0" anchor="t"/>
          <a:lstStyle/>
          <a:p>
            <a:pPr marL="0" indent="0">
              <a:buNone/>
            </a:pPr>
            <a:r>
              <a:rPr lang="en-US" sz="2000" dirty="0">
                <a:solidFill>
                  <a:schemeClr val="tx1"/>
                </a:solidFill>
              </a:rPr>
              <a:t>Knowing where money goes is the first step to managing it. Many students and young professionals track expenses in notebooks or from memory, so they rarely see their real spending pattern.</a:t>
            </a:r>
            <a:endParaRPr lang="en-US" sz="2000" dirty="0"/>
          </a:p>
        </p:txBody>
      </p:sp>
      <p:sp>
        <p:nvSpPr>
          <p:cNvPr id="5" name="Text 2"/>
          <p:cNvSpPr txBox="1"/>
          <p:nvPr/>
        </p:nvSpPr>
        <p:spPr>
          <a:xfrm>
            <a:off x="548640" y="3200400"/>
            <a:ext cx="5669280" cy="2011680"/>
          </a:xfrm>
          <a:prstGeom prst="rect">
            <a:avLst/>
          </a:prstGeom>
          <a:noFill/>
          <a:ln/>
        </p:spPr>
        <p:txBody>
          <a:bodyPr wrap="square" lIns="0" tIns="0" rIns="0" bIns="0" rtlCol="0" anchor="t"/>
          <a:lstStyle/>
          <a:p>
            <a:pPr marL="0" indent="0">
              <a:buNone/>
            </a:pPr>
            <a:r>
              <a:rPr lang="en-US" sz="2000" dirty="0">
                <a:solidFill>
                  <a:schemeClr val="tx1"/>
                </a:solidFill>
              </a:rPr>
              <a:t>This project is a Python application that records daily expenses by category, stores them in files, and uses Pandas and Matplotlib to analyse and visualise spending. A web interface with user accounts lets each person work in a browser such as Safari.</a:t>
            </a:r>
            <a:endParaRPr lang="en-US" sz="2000" dirty="0"/>
          </a:p>
        </p:txBody>
      </p:sp>
      <p:sp>
        <p:nvSpPr>
          <p:cNvPr id="6" name="Tech chip Python"/>
          <p:cNvSpPr/>
          <p:nvPr/>
        </p:nvSpPr>
        <p:spPr>
          <a:xfrm>
            <a:off x="548640" y="5349240"/>
            <a:ext cx="132588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Python</a:t>
            </a:r>
            <a:endParaRPr lang="en-US" sz="1400" dirty="0"/>
          </a:p>
        </p:txBody>
      </p:sp>
      <p:sp>
        <p:nvSpPr>
          <p:cNvPr id="7" name="Tech chip Pandas"/>
          <p:cNvSpPr/>
          <p:nvPr/>
        </p:nvSpPr>
        <p:spPr>
          <a:xfrm>
            <a:off x="1993392" y="5349240"/>
            <a:ext cx="132588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Pandas</a:t>
            </a:r>
            <a:endParaRPr lang="en-US" sz="1400" dirty="0"/>
          </a:p>
        </p:txBody>
      </p:sp>
      <p:sp>
        <p:nvSpPr>
          <p:cNvPr id="8" name="Tech chip Matplotlib"/>
          <p:cNvSpPr/>
          <p:nvPr/>
        </p:nvSpPr>
        <p:spPr>
          <a:xfrm>
            <a:off x="3438144" y="5349240"/>
            <a:ext cx="132588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Matplotlib</a:t>
            </a:r>
            <a:endParaRPr lang="en-US" sz="1400" dirty="0"/>
          </a:p>
        </p:txBody>
      </p:sp>
      <p:sp>
        <p:nvSpPr>
          <p:cNvPr id="9" name="Tech chip Flask"/>
          <p:cNvSpPr/>
          <p:nvPr/>
        </p:nvSpPr>
        <p:spPr>
          <a:xfrm>
            <a:off x="4882896" y="5349240"/>
            <a:ext cx="1325880" cy="457200"/>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Flask</a:t>
            </a:r>
            <a:endParaRPr lang="en-US" sz="1400" dirty="0"/>
          </a:p>
        </p:txBody>
      </p:sp>
      <p:sp>
        <p:nvSpPr>
          <p:cNvPr id="10" name="Intro card Record"/>
          <p:cNvSpPr/>
          <p:nvPr/>
        </p:nvSpPr>
        <p:spPr>
          <a:xfrm>
            <a:off x="6766560" y="1417320"/>
            <a:ext cx="4873752" cy="1371600"/>
          </a:xfrm>
          <a:prstGeom prst="roundRect">
            <a:avLst>
              <a:gd name="adj" fmla="val 5333"/>
            </a:avLst>
          </a:prstGeom>
          <a:solidFill>
            <a:schemeClr val="bg2"/>
          </a:solidFill>
          <a:ln/>
        </p:spPr>
        <p:txBody>
          <a:bodyPr/>
          <a:lstStyle/>
          <a:p>
            <a:endParaRPr lang="en-US"/>
          </a:p>
        </p:txBody>
      </p:sp>
      <p:sp>
        <p:nvSpPr>
          <p:cNvPr id="11" name="Record icon circle"/>
          <p:cNvSpPr/>
          <p:nvPr/>
        </p:nvSpPr>
        <p:spPr>
          <a:xfrm>
            <a:off x="7040880" y="1737360"/>
            <a:ext cx="731520" cy="731520"/>
          </a:xfrm>
          <a:prstGeom prst="ellipse">
            <a:avLst/>
          </a:prstGeom>
          <a:solidFill>
            <a:schemeClr val="accent1"/>
          </a:solidFill>
          <a:ln/>
        </p:spPr>
        <p:txBody>
          <a:bodyPr/>
          <a:lstStyle/>
          <a:p>
            <a:endParaRPr lang="en-US"/>
          </a:p>
        </p:txBody>
      </p:sp>
      <p:pic>
        <p:nvPicPr>
          <p:cNvPr id="12" name="Record icon" descr="Record icon"/>
          <p:cNvPicPr>
            <a:picLocks noChangeAspect="1"/>
          </p:cNvPicPr>
          <p:nvPr/>
        </p:nvPicPr>
        <p:blipFill>
          <a:blip r:embed="rId3"/>
          <a:stretch>
            <a:fillRect/>
          </a:stretch>
        </p:blipFill>
        <p:spPr>
          <a:xfrm>
            <a:off x="7238390" y="1934870"/>
            <a:ext cx="336499" cy="336499"/>
          </a:xfrm>
          <a:prstGeom prst="rect">
            <a:avLst/>
          </a:prstGeom>
        </p:spPr>
      </p:pic>
      <p:sp>
        <p:nvSpPr>
          <p:cNvPr id="13" name="Text 9"/>
          <p:cNvSpPr txBox="1"/>
          <p:nvPr/>
        </p:nvSpPr>
        <p:spPr>
          <a:xfrm>
            <a:off x="8046720" y="1600200"/>
            <a:ext cx="3383280" cy="411480"/>
          </a:xfrm>
          <a:prstGeom prst="rect">
            <a:avLst/>
          </a:prstGeom>
          <a:noFill/>
          <a:ln/>
        </p:spPr>
        <p:txBody>
          <a:bodyPr wrap="square" lIns="0" tIns="0" rIns="0" bIns="0" rtlCol="0" anchor="t"/>
          <a:lstStyle/>
          <a:p>
            <a:pPr marL="0" indent="0">
              <a:buNone/>
            </a:pPr>
            <a:r>
              <a:rPr lang="en-US" sz="2200" b="1" dirty="0">
                <a:solidFill>
                  <a:schemeClr val="tx2"/>
                </a:solidFill>
              </a:rPr>
              <a:t>Record</a:t>
            </a:r>
            <a:endParaRPr lang="en-US" sz="2200" dirty="0"/>
          </a:p>
        </p:txBody>
      </p:sp>
      <p:sp>
        <p:nvSpPr>
          <p:cNvPr id="14" name="Text 10"/>
          <p:cNvSpPr txBox="1"/>
          <p:nvPr/>
        </p:nvSpPr>
        <p:spPr>
          <a:xfrm>
            <a:off x="8046720" y="2039112"/>
            <a:ext cx="3383280" cy="685800"/>
          </a:xfrm>
          <a:prstGeom prst="rect">
            <a:avLst/>
          </a:prstGeom>
          <a:noFill/>
          <a:ln/>
        </p:spPr>
        <p:txBody>
          <a:bodyPr wrap="square" lIns="0" tIns="0" rIns="0" bIns="0" rtlCol="0" anchor="t"/>
          <a:lstStyle/>
          <a:p>
            <a:pPr marL="0" indent="0">
              <a:buNone/>
            </a:pPr>
            <a:r>
              <a:rPr lang="en-US" sz="1500" dirty="0">
                <a:solidFill>
                  <a:schemeClr val="tx1"/>
                </a:solidFill>
              </a:rPr>
              <a:t>Date, category, amount and description for every expense</a:t>
            </a:r>
            <a:endParaRPr lang="en-US" sz="1500" dirty="0"/>
          </a:p>
        </p:txBody>
      </p:sp>
      <p:sp>
        <p:nvSpPr>
          <p:cNvPr id="15" name="Intro card Analyse"/>
          <p:cNvSpPr/>
          <p:nvPr/>
        </p:nvSpPr>
        <p:spPr>
          <a:xfrm>
            <a:off x="6766560" y="3017520"/>
            <a:ext cx="4873752" cy="1371600"/>
          </a:xfrm>
          <a:prstGeom prst="roundRect">
            <a:avLst>
              <a:gd name="adj" fmla="val 5333"/>
            </a:avLst>
          </a:prstGeom>
          <a:solidFill>
            <a:schemeClr val="bg2"/>
          </a:solidFill>
          <a:ln/>
        </p:spPr>
        <p:txBody>
          <a:bodyPr/>
          <a:lstStyle/>
          <a:p>
            <a:endParaRPr lang="en-US"/>
          </a:p>
        </p:txBody>
      </p:sp>
      <p:sp>
        <p:nvSpPr>
          <p:cNvPr id="16" name="Analyse icon circle"/>
          <p:cNvSpPr/>
          <p:nvPr/>
        </p:nvSpPr>
        <p:spPr>
          <a:xfrm>
            <a:off x="7040880" y="3337560"/>
            <a:ext cx="731520" cy="731520"/>
          </a:xfrm>
          <a:prstGeom prst="ellipse">
            <a:avLst/>
          </a:prstGeom>
          <a:solidFill>
            <a:schemeClr val="accent1"/>
          </a:solidFill>
          <a:ln/>
        </p:spPr>
        <p:txBody>
          <a:bodyPr/>
          <a:lstStyle/>
          <a:p>
            <a:endParaRPr lang="en-US"/>
          </a:p>
        </p:txBody>
      </p:sp>
      <p:pic>
        <p:nvPicPr>
          <p:cNvPr id="17" name="Analyse icon" descr="Analyse icon"/>
          <p:cNvPicPr>
            <a:picLocks noChangeAspect="1"/>
          </p:cNvPicPr>
          <p:nvPr/>
        </p:nvPicPr>
        <p:blipFill>
          <a:blip r:embed="rId4"/>
          <a:stretch>
            <a:fillRect/>
          </a:stretch>
        </p:blipFill>
        <p:spPr>
          <a:xfrm>
            <a:off x="7238390" y="3535070"/>
            <a:ext cx="336499" cy="336499"/>
          </a:xfrm>
          <a:prstGeom prst="rect">
            <a:avLst/>
          </a:prstGeom>
        </p:spPr>
      </p:pic>
      <p:sp>
        <p:nvSpPr>
          <p:cNvPr id="18" name="Text 13"/>
          <p:cNvSpPr txBox="1"/>
          <p:nvPr/>
        </p:nvSpPr>
        <p:spPr>
          <a:xfrm>
            <a:off x="8046720" y="3200400"/>
            <a:ext cx="3383280" cy="411480"/>
          </a:xfrm>
          <a:prstGeom prst="rect">
            <a:avLst/>
          </a:prstGeom>
          <a:noFill/>
          <a:ln/>
        </p:spPr>
        <p:txBody>
          <a:bodyPr wrap="square" lIns="0" tIns="0" rIns="0" bIns="0" rtlCol="0" anchor="t"/>
          <a:lstStyle/>
          <a:p>
            <a:pPr marL="0" indent="0">
              <a:buNone/>
            </a:pPr>
            <a:r>
              <a:rPr lang="en-US" sz="2200" b="1" dirty="0">
                <a:solidFill>
                  <a:schemeClr val="tx2"/>
                </a:solidFill>
              </a:rPr>
              <a:t>Analyse</a:t>
            </a:r>
            <a:endParaRPr lang="en-US" sz="2200" dirty="0"/>
          </a:p>
        </p:txBody>
      </p:sp>
      <p:sp>
        <p:nvSpPr>
          <p:cNvPr id="19" name="Text 14"/>
          <p:cNvSpPr txBox="1"/>
          <p:nvPr/>
        </p:nvSpPr>
        <p:spPr>
          <a:xfrm>
            <a:off x="8046720" y="3639312"/>
            <a:ext cx="3383280" cy="685800"/>
          </a:xfrm>
          <a:prstGeom prst="rect">
            <a:avLst/>
          </a:prstGeom>
          <a:noFill/>
          <a:ln/>
        </p:spPr>
        <p:txBody>
          <a:bodyPr wrap="square" lIns="0" tIns="0" rIns="0" bIns="0" rtlCol="0" anchor="t"/>
          <a:lstStyle/>
          <a:p>
            <a:pPr marL="0" indent="0">
              <a:buNone/>
            </a:pPr>
            <a:r>
              <a:rPr lang="en-US" sz="1500" dirty="0">
                <a:solidFill>
                  <a:schemeClr val="tx1"/>
                </a:solidFill>
              </a:rPr>
              <a:t>Totals, averages, highest and lowest spending with Pandas</a:t>
            </a:r>
            <a:endParaRPr lang="en-US" sz="1500" dirty="0"/>
          </a:p>
        </p:txBody>
      </p:sp>
      <p:sp>
        <p:nvSpPr>
          <p:cNvPr id="20" name="Intro card Visualise"/>
          <p:cNvSpPr/>
          <p:nvPr/>
        </p:nvSpPr>
        <p:spPr>
          <a:xfrm>
            <a:off x="6766560" y="4617720"/>
            <a:ext cx="4873752" cy="1371600"/>
          </a:xfrm>
          <a:prstGeom prst="roundRect">
            <a:avLst>
              <a:gd name="adj" fmla="val 5333"/>
            </a:avLst>
          </a:prstGeom>
          <a:solidFill>
            <a:schemeClr val="bg2"/>
          </a:solidFill>
          <a:ln/>
        </p:spPr>
        <p:txBody>
          <a:bodyPr/>
          <a:lstStyle/>
          <a:p>
            <a:endParaRPr lang="en-US"/>
          </a:p>
        </p:txBody>
      </p:sp>
      <p:sp>
        <p:nvSpPr>
          <p:cNvPr id="21" name="Visualise icon circle"/>
          <p:cNvSpPr/>
          <p:nvPr/>
        </p:nvSpPr>
        <p:spPr>
          <a:xfrm>
            <a:off x="7040880" y="4937760"/>
            <a:ext cx="731520" cy="731520"/>
          </a:xfrm>
          <a:prstGeom prst="ellipse">
            <a:avLst/>
          </a:prstGeom>
          <a:solidFill>
            <a:schemeClr val="accent1"/>
          </a:solidFill>
          <a:ln/>
        </p:spPr>
        <p:txBody>
          <a:bodyPr/>
          <a:lstStyle/>
          <a:p>
            <a:endParaRPr lang="en-US"/>
          </a:p>
        </p:txBody>
      </p:sp>
      <p:pic>
        <p:nvPicPr>
          <p:cNvPr id="22" name="Visualise icon" descr="Visualise icon"/>
          <p:cNvPicPr>
            <a:picLocks noChangeAspect="1"/>
          </p:cNvPicPr>
          <p:nvPr/>
        </p:nvPicPr>
        <p:blipFill>
          <a:blip r:embed="rId5"/>
          <a:stretch>
            <a:fillRect/>
          </a:stretch>
        </p:blipFill>
        <p:spPr>
          <a:xfrm>
            <a:off x="7238390" y="5135270"/>
            <a:ext cx="336499" cy="336499"/>
          </a:xfrm>
          <a:prstGeom prst="rect">
            <a:avLst/>
          </a:prstGeom>
        </p:spPr>
      </p:pic>
      <p:sp>
        <p:nvSpPr>
          <p:cNvPr id="23" name="Text 17"/>
          <p:cNvSpPr txBox="1"/>
          <p:nvPr/>
        </p:nvSpPr>
        <p:spPr>
          <a:xfrm>
            <a:off x="8046720" y="4800600"/>
            <a:ext cx="3383280" cy="411480"/>
          </a:xfrm>
          <a:prstGeom prst="rect">
            <a:avLst/>
          </a:prstGeom>
          <a:noFill/>
          <a:ln/>
        </p:spPr>
        <p:txBody>
          <a:bodyPr wrap="square" lIns="0" tIns="0" rIns="0" bIns="0" rtlCol="0" anchor="t"/>
          <a:lstStyle/>
          <a:p>
            <a:pPr marL="0" indent="0">
              <a:buNone/>
            </a:pPr>
            <a:r>
              <a:rPr lang="en-US" sz="2200" b="1" dirty="0">
                <a:solidFill>
                  <a:schemeClr val="tx2"/>
                </a:solidFill>
              </a:rPr>
              <a:t>Visualise</a:t>
            </a:r>
            <a:endParaRPr lang="en-US" sz="2200" dirty="0"/>
          </a:p>
        </p:txBody>
      </p:sp>
      <p:sp>
        <p:nvSpPr>
          <p:cNvPr id="24" name="Text 18"/>
          <p:cNvSpPr txBox="1"/>
          <p:nvPr/>
        </p:nvSpPr>
        <p:spPr>
          <a:xfrm>
            <a:off x="8046720" y="5239512"/>
            <a:ext cx="3383280" cy="685800"/>
          </a:xfrm>
          <a:prstGeom prst="rect">
            <a:avLst/>
          </a:prstGeom>
          <a:noFill/>
          <a:ln/>
        </p:spPr>
        <p:txBody>
          <a:bodyPr wrap="square" lIns="0" tIns="0" rIns="0" bIns="0" rtlCol="0" anchor="t"/>
          <a:lstStyle/>
          <a:p>
            <a:pPr marL="0" indent="0">
              <a:buNone/>
            </a:pPr>
            <a:r>
              <a:rPr lang="en-US" sz="1500" dirty="0">
                <a:solidFill>
                  <a:schemeClr val="tx1"/>
                </a:solidFill>
              </a:rPr>
              <a:t>Bar, pie, line and histogram charts with Matplotlib</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a:t>
            </a:r>
            <a:endParaRPr lang="en-US" sz="3400" dirty="0"/>
          </a:p>
        </p:txBody>
      </p:sp>
      <p:sp>
        <p:nvSpPr>
          <p:cNvPr id="4" name="Problem statement box"/>
          <p:cNvSpPr/>
          <p:nvPr/>
        </p:nvSpPr>
        <p:spPr>
          <a:xfrm>
            <a:off x="548640" y="1371600"/>
            <a:ext cx="11091672" cy="1325880"/>
          </a:xfrm>
          <a:prstGeom prst="roundRect">
            <a:avLst>
              <a:gd name="adj" fmla="val 5517"/>
            </a:avLst>
          </a:prstGeom>
          <a:solidFill>
            <a:schemeClr val="accent1"/>
          </a:solidFill>
          <a:ln/>
        </p:spPr>
        <p:txBody>
          <a:bodyPr/>
          <a:lstStyle/>
          <a:p>
            <a:endParaRPr lang="en-US"/>
          </a:p>
        </p:txBody>
      </p:sp>
      <p:sp>
        <p:nvSpPr>
          <p:cNvPr id="5" name="Text 2"/>
          <p:cNvSpPr txBox="1"/>
          <p:nvPr/>
        </p:nvSpPr>
        <p:spPr>
          <a:xfrm>
            <a:off x="960120" y="1371600"/>
            <a:ext cx="10268712" cy="1325880"/>
          </a:xfrm>
          <a:prstGeom prst="rect">
            <a:avLst/>
          </a:prstGeom>
          <a:noFill/>
          <a:ln/>
        </p:spPr>
        <p:txBody>
          <a:bodyPr wrap="square" lIns="0" tIns="0" rIns="0" bIns="0" rtlCol="0" anchor="ctr"/>
          <a:lstStyle/>
          <a:p>
            <a:pPr marL="0" indent="0">
              <a:buNone/>
            </a:pPr>
            <a:r>
              <a:rPr lang="en-US" sz="2200" dirty="0">
                <a:solidFill>
                  <a:schemeClr val="bg1"/>
                </a:solidFill>
              </a:rPr>
              <a:t>Individuals lack a simple, structured way to record daily expenses and understand their spending pattern, which leads to overspending and weak financial planning.</a:t>
            </a:r>
            <a:endParaRPr lang="en-US" sz="2200" dirty="0"/>
          </a:p>
        </p:txBody>
      </p:sp>
      <p:sp>
        <p:nvSpPr>
          <p:cNvPr id="6" name="Problem card 1"/>
          <p:cNvSpPr/>
          <p:nvPr/>
        </p:nvSpPr>
        <p:spPr>
          <a:xfrm>
            <a:off x="548640" y="3017520"/>
            <a:ext cx="2567178" cy="3108960"/>
          </a:xfrm>
          <a:prstGeom prst="roundRect">
            <a:avLst>
              <a:gd name="adj" fmla="val 2850"/>
            </a:avLst>
          </a:prstGeom>
          <a:solidFill>
            <a:schemeClr val="bg2"/>
          </a:solidFill>
          <a:ln/>
        </p:spPr>
        <p:txBody>
          <a:bodyPr/>
          <a:lstStyle/>
          <a:p>
            <a:endParaRPr lang="en-US"/>
          </a:p>
        </p:txBody>
      </p:sp>
      <p:sp>
        <p:nvSpPr>
          <p:cNvPr id="7" name="Scattered records icon circle"/>
          <p:cNvSpPr/>
          <p:nvPr/>
        </p:nvSpPr>
        <p:spPr>
          <a:xfrm>
            <a:off x="822960" y="3291840"/>
            <a:ext cx="777240" cy="777240"/>
          </a:xfrm>
          <a:prstGeom prst="ellipse">
            <a:avLst/>
          </a:prstGeom>
          <a:solidFill>
            <a:schemeClr val="accent1"/>
          </a:solidFill>
          <a:ln/>
        </p:spPr>
        <p:txBody>
          <a:bodyPr/>
          <a:lstStyle/>
          <a:p>
            <a:endParaRPr lang="en-US"/>
          </a:p>
        </p:txBody>
      </p:sp>
      <p:pic>
        <p:nvPicPr>
          <p:cNvPr id="8" name="Scattered records icon" descr="Scattered records icon"/>
          <p:cNvPicPr>
            <a:picLocks noChangeAspect="1"/>
          </p:cNvPicPr>
          <p:nvPr/>
        </p:nvPicPr>
        <p:blipFill>
          <a:blip r:embed="rId3"/>
          <a:stretch>
            <a:fillRect/>
          </a:stretch>
        </p:blipFill>
        <p:spPr>
          <a:xfrm>
            <a:off x="1032815" y="3501695"/>
            <a:ext cx="357530" cy="357530"/>
          </a:xfrm>
          <a:prstGeom prst="rect">
            <a:avLst/>
          </a:prstGeom>
        </p:spPr>
      </p:pic>
      <p:sp>
        <p:nvSpPr>
          <p:cNvPr id="9" name="Text 5"/>
          <p:cNvSpPr txBox="1"/>
          <p:nvPr/>
        </p:nvSpPr>
        <p:spPr>
          <a:xfrm>
            <a:off x="822960" y="4251960"/>
            <a:ext cx="2018538" cy="365760"/>
          </a:xfrm>
          <a:prstGeom prst="rect">
            <a:avLst/>
          </a:prstGeom>
          <a:noFill/>
          <a:ln/>
        </p:spPr>
        <p:txBody>
          <a:bodyPr wrap="square" lIns="0" tIns="0" rIns="0" bIns="0" rtlCol="0" anchor="t"/>
          <a:lstStyle/>
          <a:p>
            <a:pPr marL="0" indent="0">
              <a:buNone/>
            </a:pPr>
            <a:r>
              <a:rPr lang="en-US" sz="2000" b="1" dirty="0">
                <a:solidFill>
                  <a:schemeClr val="tx2"/>
                </a:solidFill>
              </a:rPr>
              <a:t>Scattered records</a:t>
            </a:r>
            <a:endParaRPr lang="en-US" sz="2000" dirty="0"/>
          </a:p>
        </p:txBody>
      </p:sp>
      <p:sp>
        <p:nvSpPr>
          <p:cNvPr id="10" name="Text 6"/>
          <p:cNvSpPr txBox="1"/>
          <p:nvPr/>
        </p:nvSpPr>
        <p:spPr>
          <a:xfrm>
            <a:off x="822960" y="4709160"/>
            <a:ext cx="2018538" cy="1325880"/>
          </a:xfrm>
          <a:prstGeom prst="rect">
            <a:avLst/>
          </a:prstGeom>
          <a:noFill/>
          <a:ln/>
        </p:spPr>
        <p:txBody>
          <a:bodyPr wrap="square" lIns="0" tIns="0" rIns="0" bIns="0" rtlCol="0" anchor="t"/>
          <a:lstStyle/>
          <a:p>
            <a:pPr marL="0" indent="0">
              <a:buNone/>
            </a:pPr>
            <a:r>
              <a:rPr lang="en-US" sz="1600" dirty="0">
                <a:solidFill>
                  <a:schemeClr val="tx1"/>
                </a:solidFill>
              </a:rPr>
              <a:t>Expenses sit in notebooks, messages or memory and are easily lost.</a:t>
            </a:r>
            <a:endParaRPr lang="en-US" sz="1600" dirty="0"/>
          </a:p>
        </p:txBody>
      </p:sp>
      <p:sp>
        <p:nvSpPr>
          <p:cNvPr id="11" name="Problem card 2"/>
          <p:cNvSpPr/>
          <p:nvPr/>
        </p:nvSpPr>
        <p:spPr>
          <a:xfrm>
            <a:off x="3390138" y="3017520"/>
            <a:ext cx="2567178" cy="3108960"/>
          </a:xfrm>
          <a:prstGeom prst="roundRect">
            <a:avLst>
              <a:gd name="adj" fmla="val 2850"/>
            </a:avLst>
          </a:prstGeom>
          <a:solidFill>
            <a:schemeClr val="bg2"/>
          </a:solidFill>
          <a:ln/>
        </p:spPr>
        <p:txBody>
          <a:bodyPr/>
          <a:lstStyle/>
          <a:p>
            <a:endParaRPr lang="en-US"/>
          </a:p>
        </p:txBody>
      </p:sp>
      <p:sp>
        <p:nvSpPr>
          <p:cNvPr id="12" name="Manual errors icon circle"/>
          <p:cNvSpPr/>
          <p:nvPr/>
        </p:nvSpPr>
        <p:spPr>
          <a:xfrm>
            <a:off x="3664458" y="3291840"/>
            <a:ext cx="777240" cy="777240"/>
          </a:xfrm>
          <a:prstGeom prst="ellipse">
            <a:avLst/>
          </a:prstGeom>
          <a:solidFill>
            <a:schemeClr val="accent1"/>
          </a:solidFill>
          <a:ln/>
        </p:spPr>
        <p:txBody>
          <a:bodyPr/>
          <a:lstStyle/>
          <a:p>
            <a:endParaRPr lang="en-US"/>
          </a:p>
        </p:txBody>
      </p:sp>
      <p:pic>
        <p:nvPicPr>
          <p:cNvPr id="13" name="Manual errors icon" descr="Manual errors icon"/>
          <p:cNvPicPr>
            <a:picLocks noChangeAspect="1"/>
          </p:cNvPicPr>
          <p:nvPr/>
        </p:nvPicPr>
        <p:blipFill>
          <a:blip r:embed="rId4"/>
          <a:stretch>
            <a:fillRect/>
          </a:stretch>
        </p:blipFill>
        <p:spPr>
          <a:xfrm>
            <a:off x="3874313" y="3501695"/>
            <a:ext cx="357530" cy="357530"/>
          </a:xfrm>
          <a:prstGeom prst="rect">
            <a:avLst/>
          </a:prstGeom>
        </p:spPr>
      </p:pic>
      <p:sp>
        <p:nvSpPr>
          <p:cNvPr id="14" name="Text 9"/>
          <p:cNvSpPr txBox="1"/>
          <p:nvPr/>
        </p:nvSpPr>
        <p:spPr>
          <a:xfrm>
            <a:off x="3664458" y="4251960"/>
            <a:ext cx="2018538" cy="365760"/>
          </a:xfrm>
          <a:prstGeom prst="rect">
            <a:avLst/>
          </a:prstGeom>
          <a:noFill/>
          <a:ln/>
        </p:spPr>
        <p:txBody>
          <a:bodyPr wrap="square" lIns="0" tIns="0" rIns="0" bIns="0" rtlCol="0" anchor="t"/>
          <a:lstStyle/>
          <a:p>
            <a:pPr marL="0" indent="0">
              <a:buNone/>
            </a:pPr>
            <a:r>
              <a:rPr lang="en-US" sz="2000" b="1" dirty="0">
                <a:solidFill>
                  <a:schemeClr val="tx2"/>
                </a:solidFill>
              </a:rPr>
              <a:t>Manual errors</a:t>
            </a:r>
            <a:endParaRPr lang="en-US" sz="2000" dirty="0"/>
          </a:p>
        </p:txBody>
      </p:sp>
      <p:sp>
        <p:nvSpPr>
          <p:cNvPr id="15" name="Text 10"/>
          <p:cNvSpPr txBox="1"/>
          <p:nvPr/>
        </p:nvSpPr>
        <p:spPr>
          <a:xfrm>
            <a:off x="3664458" y="4709160"/>
            <a:ext cx="2018538" cy="1325880"/>
          </a:xfrm>
          <a:prstGeom prst="rect">
            <a:avLst/>
          </a:prstGeom>
          <a:noFill/>
          <a:ln/>
        </p:spPr>
        <p:txBody>
          <a:bodyPr wrap="square" lIns="0" tIns="0" rIns="0" bIns="0" rtlCol="0" anchor="t"/>
          <a:lstStyle/>
          <a:p>
            <a:pPr marL="0" indent="0">
              <a:buNone/>
            </a:pPr>
            <a:r>
              <a:rPr lang="en-US" sz="1600" dirty="0">
                <a:solidFill>
                  <a:schemeClr val="tx1"/>
                </a:solidFill>
              </a:rPr>
              <a:t>Adding totals by hand and typing wrong dates or amounts leads to mistakes.</a:t>
            </a:r>
            <a:endParaRPr lang="en-US" sz="1600" dirty="0"/>
          </a:p>
        </p:txBody>
      </p:sp>
      <p:sp>
        <p:nvSpPr>
          <p:cNvPr id="16" name="Problem card 3"/>
          <p:cNvSpPr/>
          <p:nvPr/>
        </p:nvSpPr>
        <p:spPr>
          <a:xfrm>
            <a:off x="6231636" y="3017520"/>
            <a:ext cx="2567178" cy="3108960"/>
          </a:xfrm>
          <a:prstGeom prst="roundRect">
            <a:avLst>
              <a:gd name="adj" fmla="val 2850"/>
            </a:avLst>
          </a:prstGeom>
          <a:solidFill>
            <a:schemeClr val="bg2"/>
          </a:solidFill>
          <a:ln/>
        </p:spPr>
        <p:txBody>
          <a:bodyPr/>
          <a:lstStyle/>
          <a:p>
            <a:endParaRPr lang="en-US"/>
          </a:p>
        </p:txBody>
      </p:sp>
      <p:sp>
        <p:nvSpPr>
          <p:cNvPr id="17" name="No insight icon circle"/>
          <p:cNvSpPr/>
          <p:nvPr/>
        </p:nvSpPr>
        <p:spPr>
          <a:xfrm>
            <a:off x="6505956" y="3291840"/>
            <a:ext cx="777240" cy="777240"/>
          </a:xfrm>
          <a:prstGeom prst="ellipse">
            <a:avLst/>
          </a:prstGeom>
          <a:solidFill>
            <a:schemeClr val="accent1"/>
          </a:solidFill>
          <a:ln/>
        </p:spPr>
        <p:txBody>
          <a:bodyPr/>
          <a:lstStyle/>
          <a:p>
            <a:endParaRPr lang="en-US"/>
          </a:p>
        </p:txBody>
      </p:sp>
      <p:pic>
        <p:nvPicPr>
          <p:cNvPr id="18" name="No insight icon" descr="No insight icon"/>
          <p:cNvPicPr>
            <a:picLocks noChangeAspect="1"/>
          </p:cNvPicPr>
          <p:nvPr/>
        </p:nvPicPr>
        <p:blipFill>
          <a:blip r:embed="rId5"/>
          <a:stretch>
            <a:fillRect/>
          </a:stretch>
        </p:blipFill>
        <p:spPr>
          <a:xfrm>
            <a:off x="6715811" y="3501695"/>
            <a:ext cx="357530" cy="357530"/>
          </a:xfrm>
          <a:prstGeom prst="rect">
            <a:avLst/>
          </a:prstGeom>
        </p:spPr>
      </p:pic>
      <p:sp>
        <p:nvSpPr>
          <p:cNvPr id="19" name="Text 13"/>
          <p:cNvSpPr txBox="1"/>
          <p:nvPr/>
        </p:nvSpPr>
        <p:spPr>
          <a:xfrm>
            <a:off x="6505956" y="4251960"/>
            <a:ext cx="2018538" cy="365760"/>
          </a:xfrm>
          <a:prstGeom prst="rect">
            <a:avLst/>
          </a:prstGeom>
          <a:noFill/>
          <a:ln/>
        </p:spPr>
        <p:txBody>
          <a:bodyPr wrap="square" lIns="0" tIns="0" rIns="0" bIns="0" rtlCol="0" anchor="t"/>
          <a:lstStyle/>
          <a:p>
            <a:pPr marL="0" indent="0">
              <a:buNone/>
            </a:pPr>
            <a:r>
              <a:rPr lang="en-US" sz="2000" b="1" dirty="0">
                <a:solidFill>
                  <a:schemeClr val="tx2"/>
                </a:solidFill>
              </a:rPr>
              <a:t>No insight</a:t>
            </a:r>
            <a:endParaRPr lang="en-US" sz="2000" dirty="0"/>
          </a:p>
        </p:txBody>
      </p:sp>
      <p:sp>
        <p:nvSpPr>
          <p:cNvPr id="20" name="Text 14"/>
          <p:cNvSpPr txBox="1"/>
          <p:nvPr/>
        </p:nvSpPr>
        <p:spPr>
          <a:xfrm>
            <a:off x="6505956" y="4709160"/>
            <a:ext cx="2018538" cy="1325880"/>
          </a:xfrm>
          <a:prstGeom prst="rect">
            <a:avLst/>
          </a:prstGeom>
          <a:noFill/>
          <a:ln/>
        </p:spPr>
        <p:txBody>
          <a:bodyPr wrap="square" lIns="0" tIns="0" rIns="0" bIns="0" rtlCol="0" anchor="t"/>
          <a:lstStyle/>
          <a:p>
            <a:pPr marL="0" indent="0">
              <a:buNone/>
            </a:pPr>
            <a:r>
              <a:rPr lang="en-US" sz="1600" dirty="0">
                <a:solidFill>
                  <a:schemeClr val="tx1"/>
                </a:solidFill>
              </a:rPr>
              <a:t>There is no quick view by category, by month or of the largest expenses.</a:t>
            </a:r>
            <a:endParaRPr lang="en-US" sz="1600" dirty="0"/>
          </a:p>
        </p:txBody>
      </p:sp>
      <p:sp>
        <p:nvSpPr>
          <p:cNvPr id="21" name="Problem card 4"/>
          <p:cNvSpPr/>
          <p:nvPr/>
        </p:nvSpPr>
        <p:spPr>
          <a:xfrm>
            <a:off x="9073134" y="3017520"/>
            <a:ext cx="2567178" cy="3108960"/>
          </a:xfrm>
          <a:prstGeom prst="roundRect">
            <a:avLst>
              <a:gd name="adj" fmla="val 2850"/>
            </a:avLst>
          </a:prstGeom>
          <a:solidFill>
            <a:schemeClr val="bg2"/>
          </a:solidFill>
          <a:ln/>
        </p:spPr>
        <p:txBody>
          <a:bodyPr/>
          <a:lstStyle/>
          <a:p>
            <a:endParaRPr lang="en-US"/>
          </a:p>
        </p:txBody>
      </p:sp>
      <p:sp>
        <p:nvSpPr>
          <p:cNvPr id="22" name="Weak data control icon circle"/>
          <p:cNvSpPr/>
          <p:nvPr/>
        </p:nvSpPr>
        <p:spPr>
          <a:xfrm>
            <a:off x="9347454" y="3291840"/>
            <a:ext cx="777240" cy="777240"/>
          </a:xfrm>
          <a:prstGeom prst="ellipse">
            <a:avLst/>
          </a:prstGeom>
          <a:solidFill>
            <a:schemeClr val="accent1"/>
          </a:solidFill>
          <a:ln/>
        </p:spPr>
        <p:txBody>
          <a:bodyPr/>
          <a:lstStyle/>
          <a:p>
            <a:endParaRPr lang="en-US"/>
          </a:p>
        </p:txBody>
      </p:sp>
      <p:pic>
        <p:nvPicPr>
          <p:cNvPr id="23" name="Weak data control icon" descr="Weak data control icon"/>
          <p:cNvPicPr>
            <a:picLocks noChangeAspect="1"/>
          </p:cNvPicPr>
          <p:nvPr/>
        </p:nvPicPr>
        <p:blipFill>
          <a:blip r:embed="rId6"/>
          <a:stretch>
            <a:fillRect/>
          </a:stretch>
        </p:blipFill>
        <p:spPr>
          <a:xfrm>
            <a:off x="9557309" y="3501695"/>
            <a:ext cx="357530" cy="357530"/>
          </a:xfrm>
          <a:prstGeom prst="rect">
            <a:avLst/>
          </a:prstGeom>
        </p:spPr>
      </p:pic>
      <p:sp>
        <p:nvSpPr>
          <p:cNvPr id="24" name="Text 17"/>
          <p:cNvSpPr txBox="1"/>
          <p:nvPr/>
        </p:nvSpPr>
        <p:spPr>
          <a:xfrm>
            <a:off x="9347454" y="4251960"/>
            <a:ext cx="2018538" cy="365760"/>
          </a:xfrm>
          <a:prstGeom prst="rect">
            <a:avLst/>
          </a:prstGeom>
          <a:noFill/>
          <a:ln/>
        </p:spPr>
        <p:txBody>
          <a:bodyPr wrap="square" lIns="0" tIns="0" rIns="0" bIns="0" rtlCol="0" anchor="t"/>
          <a:lstStyle/>
          <a:p>
            <a:pPr marL="0" indent="0">
              <a:buNone/>
            </a:pPr>
            <a:r>
              <a:rPr lang="en-US" sz="2000" b="1" dirty="0">
                <a:solidFill>
                  <a:schemeClr val="tx2"/>
                </a:solidFill>
              </a:rPr>
              <a:t>Weak data control</a:t>
            </a:r>
            <a:endParaRPr lang="en-US" sz="2000" dirty="0"/>
          </a:p>
        </p:txBody>
      </p:sp>
      <p:sp>
        <p:nvSpPr>
          <p:cNvPr id="25" name="Text 18"/>
          <p:cNvSpPr txBox="1"/>
          <p:nvPr/>
        </p:nvSpPr>
        <p:spPr>
          <a:xfrm>
            <a:off x="9347454" y="4709160"/>
            <a:ext cx="2018538" cy="1325880"/>
          </a:xfrm>
          <a:prstGeom prst="rect">
            <a:avLst/>
          </a:prstGeom>
          <a:noFill/>
          <a:ln/>
        </p:spPr>
        <p:txBody>
          <a:bodyPr wrap="square" lIns="0" tIns="0" rIns="0" bIns="0" rtlCol="0" anchor="t"/>
          <a:lstStyle/>
          <a:p>
            <a:pPr marL="0" indent="0">
              <a:buNone/>
            </a:pPr>
            <a:r>
              <a:rPr lang="en-US" sz="1600" dirty="0">
                <a:solidFill>
                  <a:schemeClr val="tx1"/>
                </a:solidFill>
              </a:rPr>
              <a:t>Third-party apps keep personal data on servers the user does not control.</a:t>
            </a:r>
            <a:endParaRPr lang="en-US" sz="16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Objectives and Expected Outcomes</a:t>
            </a:r>
            <a:endParaRPr lang="en-US" sz="3400" dirty="0"/>
          </a:p>
        </p:txBody>
      </p:sp>
      <p:sp>
        <p:nvSpPr>
          <p:cNvPr id="4" name="Objective number 1"/>
          <p:cNvSpPr/>
          <p:nvPr/>
        </p:nvSpPr>
        <p:spPr>
          <a:xfrm>
            <a:off x="548640" y="1417320"/>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2"/>
          <p:cNvSpPr txBox="1"/>
          <p:nvPr/>
        </p:nvSpPr>
        <p:spPr>
          <a:xfrm>
            <a:off x="1325880" y="1325880"/>
            <a:ext cx="6217920" cy="713232"/>
          </a:xfrm>
          <a:prstGeom prst="rect">
            <a:avLst/>
          </a:prstGeom>
          <a:noFill/>
          <a:ln/>
        </p:spPr>
        <p:txBody>
          <a:bodyPr wrap="square" lIns="0" tIns="0" rIns="0" bIns="0" rtlCol="0" anchor="ctr"/>
          <a:lstStyle/>
          <a:p>
            <a:pPr marL="0" indent="0">
              <a:buNone/>
            </a:pPr>
            <a:r>
              <a:rPr lang="en-US" sz="1900" dirty="0">
                <a:solidFill>
                  <a:schemeClr val="tx1"/>
                </a:solidFill>
              </a:rPr>
              <a:t>Record expenses with date, category, amount and description</a:t>
            </a:r>
            <a:endParaRPr lang="en-US" sz="1900" dirty="0"/>
          </a:p>
        </p:txBody>
      </p:sp>
      <p:sp>
        <p:nvSpPr>
          <p:cNvPr id="6" name="Objective number 2"/>
          <p:cNvSpPr/>
          <p:nvPr/>
        </p:nvSpPr>
        <p:spPr>
          <a:xfrm>
            <a:off x="548640" y="2221992"/>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7" name="Text 4"/>
          <p:cNvSpPr txBox="1"/>
          <p:nvPr/>
        </p:nvSpPr>
        <p:spPr>
          <a:xfrm>
            <a:off x="1325880" y="2130552"/>
            <a:ext cx="6217920" cy="713232"/>
          </a:xfrm>
          <a:prstGeom prst="rect">
            <a:avLst/>
          </a:prstGeom>
          <a:noFill/>
          <a:ln/>
        </p:spPr>
        <p:txBody>
          <a:bodyPr wrap="square" lIns="0" tIns="0" rIns="0" bIns="0" rtlCol="0" anchor="ctr"/>
          <a:lstStyle/>
          <a:p>
            <a:pPr marL="0" indent="0">
              <a:buNone/>
            </a:pPr>
            <a:r>
              <a:rPr lang="en-US" sz="1900" dirty="0">
                <a:solidFill>
                  <a:schemeClr val="tx1"/>
                </a:solidFill>
              </a:rPr>
              <a:t>Validate every input and reject invalid dates and amounts</a:t>
            </a:r>
            <a:endParaRPr lang="en-US" sz="1900" dirty="0"/>
          </a:p>
        </p:txBody>
      </p:sp>
      <p:sp>
        <p:nvSpPr>
          <p:cNvPr id="8" name="Objective number 3"/>
          <p:cNvSpPr/>
          <p:nvPr/>
        </p:nvSpPr>
        <p:spPr>
          <a:xfrm>
            <a:off x="548640" y="3026664"/>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9" name="Text 6"/>
          <p:cNvSpPr txBox="1"/>
          <p:nvPr/>
        </p:nvSpPr>
        <p:spPr>
          <a:xfrm>
            <a:off x="1325880" y="2935224"/>
            <a:ext cx="6217920" cy="713232"/>
          </a:xfrm>
          <a:prstGeom prst="rect">
            <a:avLst/>
          </a:prstGeom>
          <a:noFill/>
          <a:ln/>
        </p:spPr>
        <p:txBody>
          <a:bodyPr wrap="square" lIns="0" tIns="0" rIns="0" bIns="0" rtlCol="0" anchor="ctr"/>
          <a:lstStyle/>
          <a:p>
            <a:pPr marL="0" indent="0">
              <a:buNone/>
            </a:pPr>
            <a:r>
              <a:rPr lang="en-US" sz="1900" dirty="0">
                <a:solidFill>
                  <a:schemeClr val="tx1"/>
                </a:solidFill>
              </a:rPr>
              <a:t>Calculate total, monthly, category-wise and average spending using Pandas</a:t>
            </a:r>
            <a:endParaRPr lang="en-US" sz="1900" dirty="0"/>
          </a:p>
        </p:txBody>
      </p:sp>
      <p:sp>
        <p:nvSpPr>
          <p:cNvPr id="10" name="Objective number 4"/>
          <p:cNvSpPr/>
          <p:nvPr/>
        </p:nvSpPr>
        <p:spPr>
          <a:xfrm>
            <a:off x="548640" y="3831336"/>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1" name="Text 8"/>
          <p:cNvSpPr txBox="1"/>
          <p:nvPr/>
        </p:nvSpPr>
        <p:spPr>
          <a:xfrm>
            <a:off x="1325880" y="3739896"/>
            <a:ext cx="6217920" cy="713232"/>
          </a:xfrm>
          <a:prstGeom prst="rect">
            <a:avLst/>
          </a:prstGeom>
          <a:noFill/>
          <a:ln/>
        </p:spPr>
        <p:txBody>
          <a:bodyPr wrap="square" lIns="0" tIns="0" rIns="0" bIns="0" rtlCol="0" anchor="ctr"/>
          <a:lstStyle/>
          <a:p>
            <a:pPr marL="0" indent="0">
              <a:buNone/>
            </a:pPr>
            <a:r>
              <a:rPr lang="en-US" sz="1900" dirty="0">
                <a:solidFill>
                  <a:schemeClr val="tx1"/>
                </a:solidFill>
              </a:rPr>
              <a:t>Identify the highest and lowest expenses and sort records</a:t>
            </a:r>
            <a:endParaRPr lang="en-US" sz="1900" dirty="0"/>
          </a:p>
        </p:txBody>
      </p:sp>
      <p:sp>
        <p:nvSpPr>
          <p:cNvPr id="12" name="Objective number 5"/>
          <p:cNvSpPr/>
          <p:nvPr/>
        </p:nvSpPr>
        <p:spPr>
          <a:xfrm>
            <a:off x="548640" y="4636008"/>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3" name="Text 10"/>
          <p:cNvSpPr txBox="1"/>
          <p:nvPr/>
        </p:nvSpPr>
        <p:spPr>
          <a:xfrm>
            <a:off x="1325880" y="4544568"/>
            <a:ext cx="6217920" cy="713232"/>
          </a:xfrm>
          <a:prstGeom prst="rect">
            <a:avLst/>
          </a:prstGeom>
          <a:noFill/>
          <a:ln/>
        </p:spPr>
        <p:txBody>
          <a:bodyPr wrap="square" lIns="0" tIns="0" rIns="0" bIns="0" rtlCol="0" anchor="ctr"/>
          <a:lstStyle/>
          <a:p>
            <a:pPr marL="0" indent="0">
              <a:buNone/>
            </a:pPr>
            <a:r>
              <a:rPr lang="en-US" sz="1900" dirty="0">
                <a:solidFill>
                  <a:schemeClr val="tx1"/>
                </a:solidFill>
              </a:rPr>
              <a:t>Save records to files and retrieve them when the program starts</a:t>
            </a:r>
            <a:endParaRPr lang="en-US" sz="1900" dirty="0"/>
          </a:p>
        </p:txBody>
      </p:sp>
      <p:sp>
        <p:nvSpPr>
          <p:cNvPr id="14" name="Objective number 6"/>
          <p:cNvSpPr/>
          <p:nvPr/>
        </p:nvSpPr>
        <p:spPr>
          <a:xfrm>
            <a:off x="548640" y="5440680"/>
            <a:ext cx="530352" cy="530352"/>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15" name="Text 12"/>
          <p:cNvSpPr txBox="1"/>
          <p:nvPr/>
        </p:nvSpPr>
        <p:spPr>
          <a:xfrm>
            <a:off x="1325880" y="5349240"/>
            <a:ext cx="6217920" cy="713232"/>
          </a:xfrm>
          <a:prstGeom prst="rect">
            <a:avLst/>
          </a:prstGeom>
          <a:noFill/>
          <a:ln/>
        </p:spPr>
        <p:txBody>
          <a:bodyPr wrap="square" lIns="0" tIns="0" rIns="0" bIns="0" rtlCol="0" anchor="ctr"/>
          <a:lstStyle/>
          <a:p>
            <a:pPr marL="0" indent="0">
              <a:buNone/>
            </a:pPr>
            <a:r>
              <a:rPr lang="en-US" sz="1900" dirty="0">
                <a:solidFill>
                  <a:schemeClr val="tx1"/>
                </a:solidFill>
              </a:rPr>
              <a:t>Present results as Matplotlib charts in a secure browser interface</a:t>
            </a:r>
            <a:endParaRPr lang="en-US" sz="1900" dirty="0"/>
          </a:p>
        </p:txBody>
      </p:sp>
      <p:sp>
        <p:nvSpPr>
          <p:cNvPr id="16" name="Outcomes panel"/>
          <p:cNvSpPr/>
          <p:nvPr/>
        </p:nvSpPr>
        <p:spPr>
          <a:xfrm>
            <a:off x="7772400" y="1371600"/>
            <a:ext cx="3867912" cy="4800600"/>
          </a:xfrm>
          <a:prstGeom prst="roundRect">
            <a:avLst>
              <a:gd name="adj" fmla="val 1891"/>
            </a:avLst>
          </a:prstGeom>
          <a:solidFill>
            <a:schemeClr val="accent1"/>
          </a:solidFill>
          <a:ln/>
        </p:spPr>
        <p:txBody>
          <a:bodyPr/>
          <a:lstStyle/>
          <a:p>
            <a:endParaRPr lang="en-US"/>
          </a:p>
        </p:txBody>
      </p:sp>
      <p:sp>
        <p:nvSpPr>
          <p:cNvPr id="17" name="Text 14"/>
          <p:cNvSpPr txBox="1"/>
          <p:nvPr/>
        </p:nvSpPr>
        <p:spPr>
          <a:xfrm>
            <a:off x="8092440" y="1645920"/>
            <a:ext cx="3291840" cy="457200"/>
          </a:xfrm>
          <a:prstGeom prst="rect">
            <a:avLst/>
          </a:prstGeom>
          <a:noFill/>
          <a:ln/>
        </p:spPr>
        <p:txBody>
          <a:bodyPr wrap="square" lIns="0" tIns="0" rIns="0" bIns="0" rtlCol="0" anchor="t"/>
          <a:lstStyle/>
          <a:p>
            <a:pPr marL="0" indent="0">
              <a:buNone/>
            </a:pPr>
            <a:r>
              <a:rPr lang="en-US" sz="2400" b="1" dirty="0">
                <a:solidFill>
                  <a:schemeClr val="accent2"/>
                </a:solidFill>
              </a:rPr>
              <a:t>Expected outcomes</a:t>
            </a:r>
            <a:endParaRPr lang="en-US" sz="2400" dirty="0"/>
          </a:p>
        </p:txBody>
      </p:sp>
      <p:sp>
        <p:nvSpPr>
          <p:cNvPr id="18" name="Text 15"/>
          <p:cNvSpPr txBox="1"/>
          <p:nvPr/>
        </p:nvSpPr>
        <p:spPr>
          <a:xfrm>
            <a:off x="8092440" y="2286000"/>
            <a:ext cx="3291840" cy="365760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bg1"/>
                </a:solidFill>
              </a:rPr>
              <a:t>A clear picture of where money goes</a:t>
            </a:r>
            <a:endParaRPr lang="en-US" sz="2000" dirty="0"/>
          </a:p>
          <a:p>
            <a:pPr marL="342900" indent="-342900">
              <a:spcAft>
                <a:spcPts val="1600"/>
              </a:spcAft>
              <a:buSzPct val="100000"/>
              <a:buChar char="•"/>
            </a:pPr>
            <a:r>
              <a:rPr lang="en-US" sz="2000" dirty="0">
                <a:solidFill>
                  <a:schemeClr val="bg1"/>
                </a:solidFill>
              </a:rPr>
              <a:t>Consistent, error-free records</a:t>
            </a:r>
            <a:endParaRPr lang="en-US" sz="2000" dirty="0"/>
          </a:p>
          <a:p>
            <a:pPr marL="342900" indent="-342900">
              <a:spcAft>
                <a:spcPts val="1600"/>
              </a:spcAft>
              <a:buSzPct val="100000"/>
              <a:buChar char="•"/>
            </a:pPr>
            <a:r>
              <a:rPr lang="en-US" sz="2000" dirty="0">
                <a:solidFill>
                  <a:schemeClr val="bg1"/>
                </a:solidFill>
              </a:rPr>
              <a:t>Visual reports generated in seconds</a:t>
            </a:r>
            <a:endParaRPr lang="en-US" sz="2000" dirty="0"/>
          </a:p>
          <a:p>
            <a:pPr marL="342900" indent="-342900">
              <a:spcAft>
                <a:spcPts val="1600"/>
              </a:spcAft>
              <a:buSzPct val="100000"/>
              <a:buChar char="•"/>
            </a:pPr>
            <a:r>
              <a:rPr lang="en-US" sz="2000" dirty="0">
                <a:solidFill>
                  <a:schemeClr val="bg1"/>
                </a:solidFill>
              </a:rPr>
              <a:t>Private data for every user</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Scope of the Project</a:t>
            </a:r>
            <a:endParaRPr lang="en-US" sz="3400" dirty="0"/>
          </a:p>
        </p:txBody>
      </p:sp>
      <p:sp>
        <p:nvSpPr>
          <p:cNvPr id="4" name="Scope card Coverage"/>
          <p:cNvSpPr/>
          <p:nvPr/>
        </p:nvSpPr>
        <p:spPr>
          <a:xfrm>
            <a:off x="548640" y="1371600"/>
            <a:ext cx="3514344" cy="4800600"/>
          </a:xfrm>
          <a:prstGeom prst="roundRect">
            <a:avLst>
              <a:gd name="adj" fmla="val 2082"/>
            </a:avLst>
          </a:prstGeom>
          <a:solidFill>
            <a:schemeClr val="bg2"/>
          </a:solidFill>
          <a:ln/>
        </p:spPr>
        <p:txBody>
          <a:bodyPr/>
          <a:lstStyle/>
          <a:p>
            <a:endParaRPr lang="en-US"/>
          </a:p>
        </p:txBody>
      </p:sp>
      <p:sp>
        <p:nvSpPr>
          <p:cNvPr id="5" name="Coverage icon circle"/>
          <p:cNvSpPr/>
          <p:nvPr/>
        </p:nvSpPr>
        <p:spPr>
          <a:xfrm>
            <a:off x="822960" y="1645920"/>
            <a:ext cx="731520" cy="731520"/>
          </a:xfrm>
          <a:prstGeom prst="ellipse">
            <a:avLst/>
          </a:prstGeom>
          <a:solidFill>
            <a:schemeClr val="accent1"/>
          </a:solidFill>
          <a:ln/>
        </p:spPr>
        <p:txBody>
          <a:bodyPr/>
          <a:lstStyle/>
          <a:p>
            <a:endParaRPr lang="en-US"/>
          </a:p>
        </p:txBody>
      </p:sp>
      <p:pic>
        <p:nvPicPr>
          <p:cNvPr id="6" name="Coverage icon" descr="Coverage icon"/>
          <p:cNvPicPr>
            <a:picLocks noChangeAspect="1"/>
          </p:cNvPicPr>
          <p:nvPr/>
        </p:nvPicPr>
        <p:blipFill>
          <a:blip r:embed="rId3"/>
          <a:stretch>
            <a:fillRect/>
          </a:stretch>
        </p:blipFill>
        <p:spPr>
          <a:xfrm>
            <a:off x="1020470" y="1843430"/>
            <a:ext cx="336499" cy="336499"/>
          </a:xfrm>
          <a:prstGeom prst="rect">
            <a:avLst/>
          </a:prstGeom>
        </p:spPr>
      </p:pic>
      <p:sp>
        <p:nvSpPr>
          <p:cNvPr id="7" name="Text 3"/>
          <p:cNvSpPr txBox="1"/>
          <p:nvPr/>
        </p:nvSpPr>
        <p:spPr>
          <a:xfrm>
            <a:off x="1737360" y="1645920"/>
            <a:ext cx="2142744" cy="731520"/>
          </a:xfrm>
          <a:prstGeom prst="rect">
            <a:avLst/>
          </a:prstGeom>
          <a:noFill/>
          <a:ln/>
        </p:spPr>
        <p:txBody>
          <a:bodyPr wrap="square" lIns="0" tIns="0" rIns="0" bIns="0" rtlCol="0" anchor="ctr"/>
          <a:lstStyle/>
          <a:p>
            <a:pPr marL="0" indent="0">
              <a:buNone/>
            </a:pPr>
            <a:r>
              <a:rPr lang="en-US" sz="2400" b="1" dirty="0">
                <a:solidFill>
                  <a:schemeClr val="tx2"/>
                </a:solidFill>
              </a:rPr>
              <a:t>Coverage</a:t>
            </a:r>
            <a:endParaRPr lang="en-US" sz="2400" dirty="0"/>
          </a:p>
        </p:txBody>
      </p:sp>
      <p:sp>
        <p:nvSpPr>
          <p:cNvPr id="8" name="Text 4"/>
          <p:cNvSpPr txBox="1"/>
          <p:nvPr/>
        </p:nvSpPr>
        <p:spPr>
          <a:xfrm>
            <a:off x="822960" y="2651760"/>
            <a:ext cx="2965704" cy="338328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tx1"/>
                </a:solidFill>
              </a:rPr>
              <a:t>Daily expense entry in six categories</a:t>
            </a:r>
            <a:endParaRPr lang="en-US" sz="1700" dirty="0"/>
          </a:p>
          <a:p>
            <a:pPr marL="342900" indent="-342900">
              <a:spcAft>
                <a:spcPts val="900"/>
              </a:spcAft>
              <a:buSzPct val="100000"/>
              <a:buChar char="•"/>
            </a:pPr>
            <a:r>
              <a:rPr lang="en-US" sz="1700" dirty="0">
                <a:solidFill>
                  <a:schemeClr val="tx1"/>
                </a:solidFill>
              </a:rPr>
              <a:t>Overall and monthly analysis</a:t>
            </a:r>
            <a:endParaRPr lang="en-US" sz="1700" dirty="0"/>
          </a:p>
          <a:p>
            <a:pPr marL="342900" indent="-342900">
              <a:spcAft>
                <a:spcPts val="900"/>
              </a:spcAft>
              <a:buSzPct val="100000"/>
              <a:buChar char="•"/>
            </a:pPr>
            <a:r>
              <a:rPr lang="en-US" sz="1700" dirty="0">
                <a:solidFill>
                  <a:schemeClr val="tx1"/>
                </a:solidFill>
              </a:rPr>
              <a:t>Four chart types</a:t>
            </a:r>
            <a:endParaRPr lang="en-US" sz="1700" dirty="0"/>
          </a:p>
          <a:p>
            <a:pPr marL="342900" indent="-342900">
              <a:spcAft>
                <a:spcPts val="900"/>
              </a:spcAft>
              <a:buSzPct val="100000"/>
              <a:buChar char="•"/>
            </a:pPr>
            <a:r>
              <a:rPr lang="en-US" sz="1700" dirty="0">
                <a:solidFill>
                  <a:schemeClr val="tx1"/>
                </a:solidFill>
              </a:rPr>
              <a:t>Sign up and sign in with private data</a:t>
            </a:r>
            <a:endParaRPr lang="en-US" sz="1700" dirty="0"/>
          </a:p>
          <a:p>
            <a:pPr marL="342900" indent="-342900">
              <a:spcAft>
                <a:spcPts val="900"/>
              </a:spcAft>
              <a:buSzPct val="100000"/>
              <a:buChar char="•"/>
            </a:pPr>
            <a:r>
              <a:rPr lang="en-US" sz="1700" dirty="0">
                <a:solidFill>
                  <a:schemeClr val="tx1"/>
                </a:solidFill>
              </a:rPr>
              <a:t>Browser and terminal interfaces</a:t>
            </a:r>
            <a:endParaRPr lang="en-US" sz="1700" dirty="0"/>
          </a:p>
        </p:txBody>
      </p:sp>
      <p:sp>
        <p:nvSpPr>
          <p:cNvPr id="9" name="Scope card Target users"/>
          <p:cNvSpPr/>
          <p:nvPr/>
        </p:nvSpPr>
        <p:spPr>
          <a:xfrm>
            <a:off x="4337304" y="1371600"/>
            <a:ext cx="3514344" cy="4800600"/>
          </a:xfrm>
          <a:prstGeom prst="roundRect">
            <a:avLst>
              <a:gd name="adj" fmla="val 2082"/>
            </a:avLst>
          </a:prstGeom>
          <a:solidFill>
            <a:schemeClr val="bg2"/>
          </a:solidFill>
          <a:ln/>
        </p:spPr>
        <p:txBody>
          <a:bodyPr/>
          <a:lstStyle/>
          <a:p>
            <a:endParaRPr lang="en-US"/>
          </a:p>
        </p:txBody>
      </p:sp>
      <p:sp>
        <p:nvSpPr>
          <p:cNvPr id="10" name="Target users icon circle"/>
          <p:cNvSpPr/>
          <p:nvPr/>
        </p:nvSpPr>
        <p:spPr>
          <a:xfrm>
            <a:off x="4611624" y="1645920"/>
            <a:ext cx="731520" cy="731520"/>
          </a:xfrm>
          <a:prstGeom prst="ellipse">
            <a:avLst/>
          </a:prstGeom>
          <a:solidFill>
            <a:schemeClr val="accent1"/>
          </a:solidFill>
          <a:ln/>
        </p:spPr>
        <p:txBody>
          <a:bodyPr/>
          <a:lstStyle/>
          <a:p>
            <a:endParaRPr lang="en-US"/>
          </a:p>
        </p:txBody>
      </p:sp>
      <p:pic>
        <p:nvPicPr>
          <p:cNvPr id="11" name="Target users icon" descr="Target users icon"/>
          <p:cNvPicPr>
            <a:picLocks noChangeAspect="1"/>
          </p:cNvPicPr>
          <p:nvPr/>
        </p:nvPicPr>
        <p:blipFill>
          <a:blip r:embed="rId4"/>
          <a:stretch>
            <a:fillRect/>
          </a:stretch>
        </p:blipFill>
        <p:spPr>
          <a:xfrm>
            <a:off x="4809134" y="1843430"/>
            <a:ext cx="336499" cy="336499"/>
          </a:xfrm>
          <a:prstGeom prst="rect">
            <a:avLst/>
          </a:prstGeom>
        </p:spPr>
      </p:pic>
      <p:sp>
        <p:nvSpPr>
          <p:cNvPr id="12" name="Text 7"/>
          <p:cNvSpPr txBox="1"/>
          <p:nvPr/>
        </p:nvSpPr>
        <p:spPr>
          <a:xfrm>
            <a:off x="5526024" y="1645920"/>
            <a:ext cx="2142744" cy="731520"/>
          </a:xfrm>
          <a:prstGeom prst="rect">
            <a:avLst/>
          </a:prstGeom>
          <a:noFill/>
          <a:ln/>
        </p:spPr>
        <p:txBody>
          <a:bodyPr wrap="square" lIns="0" tIns="0" rIns="0" bIns="0" rtlCol="0" anchor="ctr"/>
          <a:lstStyle/>
          <a:p>
            <a:pPr marL="0" indent="0">
              <a:buNone/>
            </a:pPr>
            <a:r>
              <a:rPr lang="en-US" sz="2400" b="1" dirty="0">
                <a:solidFill>
                  <a:schemeClr val="tx2"/>
                </a:solidFill>
              </a:rPr>
              <a:t>Target users</a:t>
            </a:r>
            <a:endParaRPr lang="en-US" sz="2400" dirty="0"/>
          </a:p>
        </p:txBody>
      </p:sp>
      <p:sp>
        <p:nvSpPr>
          <p:cNvPr id="13" name="Text 8"/>
          <p:cNvSpPr txBox="1"/>
          <p:nvPr/>
        </p:nvSpPr>
        <p:spPr>
          <a:xfrm>
            <a:off x="4611624" y="2651760"/>
            <a:ext cx="2965704" cy="338328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tx1"/>
                </a:solidFill>
              </a:rPr>
              <a:t>Students managing allowance and fees</a:t>
            </a:r>
            <a:endParaRPr lang="en-US" sz="1700" dirty="0"/>
          </a:p>
          <a:p>
            <a:pPr marL="342900" indent="-342900">
              <a:spcAft>
                <a:spcPts val="900"/>
              </a:spcAft>
              <a:buSzPct val="100000"/>
              <a:buChar char="•"/>
            </a:pPr>
            <a:r>
              <a:rPr lang="en-US" sz="1700" dirty="0">
                <a:solidFill>
                  <a:schemeClr val="tx1"/>
                </a:solidFill>
              </a:rPr>
              <a:t>Young professionals tracking monthly spending</a:t>
            </a:r>
            <a:endParaRPr lang="en-US" sz="1700" dirty="0"/>
          </a:p>
          <a:p>
            <a:pPr marL="342900" indent="-342900">
              <a:spcAft>
                <a:spcPts val="900"/>
              </a:spcAft>
              <a:buSzPct val="100000"/>
              <a:buChar char="•"/>
            </a:pPr>
            <a:r>
              <a:rPr lang="en-US" sz="1700" dirty="0">
                <a:solidFill>
                  <a:schemeClr val="tx1"/>
                </a:solidFill>
              </a:rPr>
              <a:t>Families keeping simple household records</a:t>
            </a:r>
            <a:endParaRPr lang="en-US" sz="1700" dirty="0"/>
          </a:p>
          <a:p>
            <a:pPr marL="342900" indent="-342900">
              <a:spcAft>
                <a:spcPts val="900"/>
              </a:spcAft>
              <a:buSzPct val="100000"/>
              <a:buChar char="•"/>
            </a:pPr>
            <a:r>
              <a:rPr lang="en-US" sz="1700" dirty="0">
                <a:solidFill>
                  <a:schemeClr val="tx1"/>
                </a:solidFill>
              </a:rPr>
              <a:t>Anyone who wants analysis without spreadsheets</a:t>
            </a:r>
            <a:endParaRPr lang="en-US" sz="1700" dirty="0"/>
          </a:p>
        </p:txBody>
      </p:sp>
      <p:sp>
        <p:nvSpPr>
          <p:cNvPr id="14" name="Scope card Limitations"/>
          <p:cNvSpPr/>
          <p:nvPr/>
        </p:nvSpPr>
        <p:spPr>
          <a:xfrm>
            <a:off x="8125968" y="1371600"/>
            <a:ext cx="3514344" cy="4800600"/>
          </a:xfrm>
          <a:prstGeom prst="roundRect">
            <a:avLst>
              <a:gd name="adj" fmla="val 2082"/>
            </a:avLst>
          </a:prstGeom>
          <a:solidFill>
            <a:schemeClr val="bg2"/>
          </a:solidFill>
          <a:ln/>
        </p:spPr>
        <p:txBody>
          <a:bodyPr/>
          <a:lstStyle/>
          <a:p>
            <a:endParaRPr lang="en-US"/>
          </a:p>
        </p:txBody>
      </p:sp>
      <p:sp>
        <p:nvSpPr>
          <p:cNvPr id="15" name="Limitations icon circle"/>
          <p:cNvSpPr/>
          <p:nvPr/>
        </p:nvSpPr>
        <p:spPr>
          <a:xfrm>
            <a:off x="8400288" y="1645920"/>
            <a:ext cx="731520" cy="731520"/>
          </a:xfrm>
          <a:prstGeom prst="ellipse">
            <a:avLst/>
          </a:prstGeom>
          <a:solidFill>
            <a:schemeClr val="accent2"/>
          </a:solidFill>
          <a:ln/>
        </p:spPr>
        <p:txBody>
          <a:bodyPr/>
          <a:lstStyle/>
          <a:p>
            <a:endParaRPr lang="en-US"/>
          </a:p>
        </p:txBody>
      </p:sp>
      <p:pic>
        <p:nvPicPr>
          <p:cNvPr id="16" name="Limitations icon" descr="Limitations icon"/>
          <p:cNvPicPr>
            <a:picLocks noChangeAspect="1"/>
          </p:cNvPicPr>
          <p:nvPr/>
        </p:nvPicPr>
        <p:blipFill>
          <a:blip r:embed="rId5"/>
          <a:stretch>
            <a:fillRect/>
          </a:stretch>
        </p:blipFill>
        <p:spPr>
          <a:xfrm>
            <a:off x="8597798" y="1843430"/>
            <a:ext cx="336499" cy="336499"/>
          </a:xfrm>
          <a:prstGeom prst="rect">
            <a:avLst/>
          </a:prstGeom>
        </p:spPr>
      </p:pic>
      <p:sp>
        <p:nvSpPr>
          <p:cNvPr id="17" name="Text 11"/>
          <p:cNvSpPr txBox="1"/>
          <p:nvPr/>
        </p:nvSpPr>
        <p:spPr>
          <a:xfrm>
            <a:off x="9314688" y="1645920"/>
            <a:ext cx="2142744" cy="731520"/>
          </a:xfrm>
          <a:prstGeom prst="rect">
            <a:avLst/>
          </a:prstGeom>
          <a:noFill/>
          <a:ln/>
        </p:spPr>
        <p:txBody>
          <a:bodyPr wrap="square" lIns="0" tIns="0" rIns="0" bIns="0" rtlCol="0" anchor="ctr"/>
          <a:lstStyle/>
          <a:p>
            <a:pPr marL="0" indent="0">
              <a:buNone/>
            </a:pPr>
            <a:r>
              <a:rPr lang="en-US" sz="2400" b="1" dirty="0">
                <a:solidFill>
                  <a:schemeClr val="tx2"/>
                </a:solidFill>
              </a:rPr>
              <a:t>Limitations</a:t>
            </a:r>
            <a:endParaRPr lang="en-US" sz="2400" dirty="0"/>
          </a:p>
        </p:txBody>
      </p:sp>
      <p:sp>
        <p:nvSpPr>
          <p:cNvPr id="18" name="Text 12"/>
          <p:cNvSpPr txBox="1"/>
          <p:nvPr/>
        </p:nvSpPr>
        <p:spPr>
          <a:xfrm>
            <a:off x="8400288" y="2651760"/>
            <a:ext cx="2965704" cy="338328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tx1"/>
                </a:solidFill>
              </a:rPr>
              <a:t>Single currency (₹)</a:t>
            </a:r>
            <a:endParaRPr lang="en-US" sz="1700" dirty="0"/>
          </a:p>
          <a:p>
            <a:pPr marL="342900" indent="-342900">
              <a:spcAft>
                <a:spcPts val="900"/>
              </a:spcAft>
              <a:buSzPct val="100000"/>
              <a:buChar char="•"/>
            </a:pPr>
            <a:r>
              <a:rPr lang="en-US" sz="1700" dirty="0">
                <a:solidFill>
                  <a:schemeClr val="tx1"/>
                </a:solidFill>
              </a:rPr>
              <a:t>No bank import or automatic capture</a:t>
            </a:r>
            <a:endParaRPr lang="en-US" sz="1700" dirty="0"/>
          </a:p>
          <a:p>
            <a:pPr marL="342900" indent="-342900">
              <a:spcAft>
                <a:spcPts val="900"/>
              </a:spcAft>
              <a:buSzPct val="100000"/>
              <a:buChar char="•"/>
            </a:pPr>
            <a:r>
              <a:rPr lang="en-US" sz="1700" dirty="0">
                <a:solidFill>
                  <a:schemeClr val="tx1"/>
                </a:solidFill>
              </a:rPr>
              <a:t>CSV files suit thousands of records, not millions</a:t>
            </a:r>
            <a:endParaRPr lang="en-US" sz="1700" dirty="0"/>
          </a:p>
          <a:p>
            <a:pPr marL="342900" indent="-342900">
              <a:spcAft>
                <a:spcPts val="900"/>
              </a:spcAft>
              <a:buSzPct val="100000"/>
              <a:buChar char="•"/>
            </a:pPr>
            <a:r>
              <a:rPr lang="en-US" sz="1700" dirty="0">
                <a:solidFill>
                  <a:schemeClr val="tx1"/>
                </a:solidFill>
              </a:rPr>
              <a:t>Local use only: no HTTPS or email reset</a:t>
            </a:r>
            <a:endParaRPr lang="en-US" sz="1700" dirty="0"/>
          </a:p>
          <a:p>
            <a:pPr marL="342900" indent="-342900">
              <a:spcAft>
                <a:spcPts val="900"/>
              </a:spcAft>
              <a:buSzPct val="100000"/>
              <a:buChar char="•"/>
            </a:pPr>
            <a:r>
              <a:rPr lang="en-US" sz="1700" dirty="0">
                <a:solidFill>
                  <a:schemeClr val="tx1"/>
                </a:solidFill>
              </a:rPr>
              <a:t>No budgets or alerts yet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Literature Review and Existing Systems</a:t>
            </a:r>
            <a:endParaRPr lang="en-US" sz="3400" dirty="0"/>
          </a:p>
        </p:txBody>
      </p:sp>
      <p:graphicFrame>
        <p:nvGraphicFramePr>
          <p:cNvPr id="7" name="Existing system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11480">
                <a:tc>
                  <a:txBody>
                    <a:bodyPr/>
                    <a:lstStyle/>
                    <a:p>
                      <a:pPr marL="0" indent="0">
                        <a:buNone/>
                      </a:pPr>
                      <a:r>
                        <a:rPr lang="en-US" sz="1600" b="1" dirty="0">
                          <a:solidFill>
                            <a:schemeClr val="bg1"/>
                          </a:solidFill>
                        </a:rPr>
                        <a:t>Existing approach</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How it works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Limitations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600" b="1" dirty="0">
                          <a:solidFill>
                            <a:schemeClr val="tx2"/>
                          </a:solidFill>
                        </a:rPr>
                        <a:t>Paper notebook or memory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Entries written by hand; totals added mentally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No analysis, easy to lose, no charts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600" b="1" dirty="0">
                          <a:solidFill>
                            <a:schemeClr val="tx2"/>
                          </a:solidFill>
                        </a:rPr>
                        <a:t>Spreadsheets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Manual entry with user-built formulas and charts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No input validation; formulas break easily; setup effort</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31520">
                <a:tc>
                  <a:txBody>
                    <a:bodyPr/>
                    <a:lstStyle/>
                    <a:p>
                      <a:pPr marL="0" indent="0">
                        <a:buNone/>
                      </a:pPr>
                      <a:r>
                        <a:rPr lang="en-US" sz="1600" b="1" dirty="0">
                          <a:solidFill>
                            <a:schemeClr val="tx2"/>
                          </a:solidFill>
                        </a:rPr>
                        <a:t>Mobile expense apps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Ready-made apps, often with cloud sync</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Ads or subscriptions; data on third-party servers; fixed features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600" b="1" dirty="0">
                          <a:solidFill>
                            <a:schemeClr val="tx2"/>
                          </a:solidFill>
                        </a:rPr>
                        <a:t>Bank and UPI statements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Automatic transaction history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Cash spending missing; fixed categories; hard to analyse by month</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Gap box"/>
          <p:cNvSpPr/>
          <p:nvPr/>
        </p:nvSpPr>
        <p:spPr>
          <a:xfrm>
            <a:off x="548640" y="5074920"/>
            <a:ext cx="11091672" cy="1097280"/>
          </a:xfrm>
          <a:prstGeom prst="roundRect">
            <a:avLst>
              <a:gd name="adj" fmla="val 6667"/>
            </a:avLst>
          </a:prstGeom>
          <a:solidFill>
            <a:schemeClr val="accent1"/>
          </a:solidFill>
          <a:ln/>
        </p:spPr>
        <p:txBody>
          <a:bodyPr/>
          <a:lstStyle/>
          <a:p>
            <a:endParaRPr lang="en-US"/>
          </a:p>
        </p:txBody>
      </p:sp>
      <p:sp>
        <p:nvSpPr>
          <p:cNvPr id="6" name="Text 2"/>
          <p:cNvSpPr txBox="1"/>
          <p:nvPr/>
        </p:nvSpPr>
        <p:spPr>
          <a:xfrm>
            <a:off x="914400" y="5074920"/>
            <a:ext cx="10360152" cy="1097280"/>
          </a:xfrm>
          <a:prstGeom prst="rect">
            <a:avLst/>
          </a:prstGeom>
          <a:noFill/>
          <a:ln/>
        </p:spPr>
        <p:txBody>
          <a:bodyPr wrap="square" lIns="0" tIns="0" rIns="0" bIns="0" rtlCol="0" anchor="ctr"/>
          <a:lstStyle/>
          <a:p>
            <a:pPr marL="0" indent="0">
              <a:buNone/>
            </a:pPr>
            <a:r>
              <a:rPr lang="en-US" sz="2000" b="1" dirty="0">
                <a:solidFill>
                  <a:schemeClr val="accent2"/>
                </a:solidFill>
              </a:rPr>
              <a:t>Gap addressed: </a:t>
            </a:r>
            <a:r>
              <a:rPr lang="en-US" sz="2000" dirty="0">
                <a:solidFill>
                  <a:schemeClr val="bg1"/>
                </a:solidFill>
              </a:rPr>
              <a:t>a lightweight, validated system with analysis and charts built in, whose data stays on the user's own computer.</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Proposed System</a:t>
            </a:r>
            <a:endParaRPr lang="en-US" sz="3400" dirty="0"/>
          </a:p>
        </p:txBody>
      </p:sp>
      <p:sp>
        <p:nvSpPr>
          <p:cNvPr id="4" name="Feature card Add expenses"/>
          <p:cNvSpPr/>
          <p:nvPr/>
        </p:nvSpPr>
        <p:spPr>
          <a:xfrm>
            <a:off x="548640" y="1371600"/>
            <a:ext cx="2601468" cy="2240280"/>
          </a:xfrm>
          <a:prstGeom prst="roundRect">
            <a:avLst>
              <a:gd name="adj" fmla="val 3265"/>
            </a:avLst>
          </a:prstGeom>
          <a:solidFill>
            <a:schemeClr val="bg2"/>
          </a:solidFill>
          <a:ln/>
        </p:spPr>
        <p:txBody>
          <a:bodyPr/>
          <a:lstStyle/>
          <a:p>
            <a:endParaRPr lang="en-US"/>
          </a:p>
        </p:txBody>
      </p:sp>
      <p:sp>
        <p:nvSpPr>
          <p:cNvPr id="5" name="Add expenses icon circle"/>
          <p:cNvSpPr/>
          <p:nvPr/>
        </p:nvSpPr>
        <p:spPr>
          <a:xfrm>
            <a:off x="777240" y="1600200"/>
            <a:ext cx="640080" cy="640080"/>
          </a:xfrm>
          <a:prstGeom prst="ellipse">
            <a:avLst/>
          </a:prstGeom>
          <a:solidFill>
            <a:schemeClr val="accent1"/>
          </a:solidFill>
          <a:ln/>
        </p:spPr>
        <p:txBody>
          <a:bodyPr/>
          <a:lstStyle/>
          <a:p>
            <a:endParaRPr lang="en-US"/>
          </a:p>
        </p:txBody>
      </p:sp>
      <p:pic>
        <p:nvPicPr>
          <p:cNvPr id="6" name="Add expenses icon" descr="Add expenses icon"/>
          <p:cNvPicPr>
            <a:picLocks noChangeAspect="1"/>
          </p:cNvPicPr>
          <p:nvPr/>
        </p:nvPicPr>
        <p:blipFill>
          <a:blip r:embed="rId3"/>
          <a:stretch>
            <a:fillRect/>
          </a:stretch>
        </p:blipFill>
        <p:spPr>
          <a:xfrm>
            <a:off x="950062" y="1773022"/>
            <a:ext cx="294437" cy="294437"/>
          </a:xfrm>
          <a:prstGeom prst="rect">
            <a:avLst/>
          </a:prstGeom>
        </p:spPr>
      </p:pic>
      <p:sp>
        <p:nvSpPr>
          <p:cNvPr id="7" name="Text 3"/>
          <p:cNvSpPr txBox="1"/>
          <p:nvPr/>
        </p:nvSpPr>
        <p:spPr>
          <a:xfrm>
            <a:off x="777240" y="2377440"/>
            <a:ext cx="2144268" cy="320040"/>
          </a:xfrm>
          <a:prstGeom prst="rect">
            <a:avLst/>
          </a:prstGeom>
          <a:noFill/>
          <a:ln/>
        </p:spPr>
        <p:txBody>
          <a:bodyPr wrap="square" lIns="0" tIns="0" rIns="0" bIns="0" rtlCol="0" anchor="t"/>
          <a:lstStyle/>
          <a:p>
            <a:pPr marL="0" indent="0">
              <a:buNone/>
            </a:pPr>
            <a:r>
              <a:rPr lang="en-US" sz="1900" b="1" dirty="0">
                <a:solidFill>
                  <a:schemeClr val="tx2"/>
                </a:solidFill>
              </a:rPr>
              <a:t>Add expenses</a:t>
            </a:r>
            <a:endParaRPr lang="en-US" sz="1900" dirty="0"/>
          </a:p>
        </p:txBody>
      </p:sp>
      <p:sp>
        <p:nvSpPr>
          <p:cNvPr id="8" name="Text 4"/>
          <p:cNvSpPr txBox="1"/>
          <p:nvPr/>
        </p:nvSpPr>
        <p:spPr>
          <a:xfrm>
            <a:off x="777240" y="2743200"/>
            <a:ext cx="2144268" cy="822960"/>
          </a:xfrm>
          <a:prstGeom prst="rect">
            <a:avLst/>
          </a:prstGeom>
          <a:noFill/>
          <a:ln/>
        </p:spPr>
        <p:txBody>
          <a:bodyPr wrap="square" lIns="0" tIns="0" rIns="0" bIns="0" rtlCol="0" anchor="t"/>
          <a:lstStyle/>
          <a:p>
            <a:pPr marL="0" indent="0">
              <a:buNone/>
            </a:pPr>
            <a:r>
              <a:rPr lang="en-US" sz="1500" dirty="0">
                <a:solidFill>
                  <a:schemeClr val="tx1"/>
                </a:solidFill>
              </a:rPr>
              <a:t>Date, category, amount and description in one form</a:t>
            </a:r>
            <a:endParaRPr lang="en-US" sz="1500" dirty="0"/>
          </a:p>
        </p:txBody>
      </p:sp>
      <p:sp>
        <p:nvSpPr>
          <p:cNvPr id="9" name="Feature card Input validation"/>
          <p:cNvSpPr/>
          <p:nvPr/>
        </p:nvSpPr>
        <p:spPr>
          <a:xfrm>
            <a:off x="3378708" y="1371600"/>
            <a:ext cx="2601468" cy="2240280"/>
          </a:xfrm>
          <a:prstGeom prst="roundRect">
            <a:avLst>
              <a:gd name="adj" fmla="val 3265"/>
            </a:avLst>
          </a:prstGeom>
          <a:solidFill>
            <a:schemeClr val="bg2"/>
          </a:solidFill>
          <a:ln/>
        </p:spPr>
        <p:txBody>
          <a:bodyPr/>
          <a:lstStyle/>
          <a:p>
            <a:endParaRPr lang="en-US"/>
          </a:p>
        </p:txBody>
      </p:sp>
      <p:sp>
        <p:nvSpPr>
          <p:cNvPr id="10" name="Input validation icon circle"/>
          <p:cNvSpPr/>
          <p:nvPr/>
        </p:nvSpPr>
        <p:spPr>
          <a:xfrm>
            <a:off x="3607308" y="1600200"/>
            <a:ext cx="640080" cy="640080"/>
          </a:xfrm>
          <a:prstGeom prst="ellipse">
            <a:avLst/>
          </a:prstGeom>
          <a:solidFill>
            <a:schemeClr val="accent1"/>
          </a:solidFill>
          <a:ln/>
        </p:spPr>
        <p:txBody>
          <a:bodyPr/>
          <a:lstStyle/>
          <a:p>
            <a:endParaRPr lang="en-US"/>
          </a:p>
        </p:txBody>
      </p:sp>
      <p:pic>
        <p:nvPicPr>
          <p:cNvPr id="11" name="Input validation icon" descr="Input validation icon"/>
          <p:cNvPicPr>
            <a:picLocks noChangeAspect="1"/>
          </p:cNvPicPr>
          <p:nvPr/>
        </p:nvPicPr>
        <p:blipFill>
          <a:blip r:embed="rId4"/>
          <a:stretch>
            <a:fillRect/>
          </a:stretch>
        </p:blipFill>
        <p:spPr>
          <a:xfrm>
            <a:off x="3780130" y="1773022"/>
            <a:ext cx="294437" cy="294437"/>
          </a:xfrm>
          <a:prstGeom prst="rect">
            <a:avLst/>
          </a:prstGeom>
        </p:spPr>
      </p:pic>
      <p:sp>
        <p:nvSpPr>
          <p:cNvPr id="12" name="Text 7"/>
          <p:cNvSpPr txBox="1"/>
          <p:nvPr/>
        </p:nvSpPr>
        <p:spPr>
          <a:xfrm>
            <a:off x="3607308" y="2377440"/>
            <a:ext cx="2144268" cy="320040"/>
          </a:xfrm>
          <a:prstGeom prst="rect">
            <a:avLst/>
          </a:prstGeom>
          <a:noFill/>
          <a:ln/>
        </p:spPr>
        <p:txBody>
          <a:bodyPr wrap="square" lIns="0" tIns="0" rIns="0" bIns="0" rtlCol="0" anchor="t"/>
          <a:lstStyle/>
          <a:p>
            <a:pPr marL="0" indent="0">
              <a:buNone/>
            </a:pPr>
            <a:r>
              <a:rPr lang="en-US" sz="1900" b="1" dirty="0">
                <a:solidFill>
                  <a:schemeClr val="tx2"/>
                </a:solidFill>
              </a:rPr>
              <a:t>Input validation</a:t>
            </a:r>
            <a:endParaRPr lang="en-US" sz="1900" dirty="0"/>
          </a:p>
        </p:txBody>
      </p:sp>
      <p:sp>
        <p:nvSpPr>
          <p:cNvPr id="13" name="Text 8"/>
          <p:cNvSpPr txBox="1"/>
          <p:nvPr/>
        </p:nvSpPr>
        <p:spPr>
          <a:xfrm>
            <a:off x="3607308" y="2743200"/>
            <a:ext cx="2144268" cy="822960"/>
          </a:xfrm>
          <a:prstGeom prst="rect">
            <a:avLst/>
          </a:prstGeom>
          <a:noFill/>
          <a:ln/>
        </p:spPr>
        <p:txBody>
          <a:bodyPr wrap="square" lIns="0" tIns="0" rIns="0" bIns="0" rtlCol="0" anchor="t"/>
          <a:lstStyle/>
          <a:p>
            <a:pPr marL="0" indent="0">
              <a:buNone/>
            </a:pPr>
            <a:r>
              <a:rPr lang="en-US" sz="1500" dirty="0">
                <a:solidFill>
                  <a:schemeClr val="tx1"/>
                </a:solidFill>
              </a:rPr>
              <a:t>Rejects bad dates, amounts and categories</a:t>
            </a:r>
            <a:endParaRPr lang="en-US" sz="1500" dirty="0"/>
          </a:p>
        </p:txBody>
      </p:sp>
      <p:sp>
        <p:nvSpPr>
          <p:cNvPr id="14" name="Feature card Spending analysis"/>
          <p:cNvSpPr/>
          <p:nvPr/>
        </p:nvSpPr>
        <p:spPr>
          <a:xfrm>
            <a:off x="6208776" y="1371600"/>
            <a:ext cx="2601468" cy="2240280"/>
          </a:xfrm>
          <a:prstGeom prst="roundRect">
            <a:avLst>
              <a:gd name="adj" fmla="val 3265"/>
            </a:avLst>
          </a:prstGeom>
          <a:solidFill>
            <a:schemeClr val="bg2"/>
          </a:solidFill>
          <a:ln/>
        </p:spPr>
        <p:txBody>
          <a:bodyPr/>
          <a:lstStyle/>
          <a:p>
            <a:endParaRPr lang="en-US"/>
          </a:p>
        </p:txBody>
      </p:sp>
      <p:sp>
        <p:nvSpPr>
          <p:cNvPr id="15" name="Spending analysis icon circle"/>
          <p:cNvSpPr/>
          <p:nvPr/>
        </p:nvSpPr>
        <p:spPr>
          <a:xfrm>
            <a:off x="6437376" y="1600200"/>
            <a:ext cx="640080" cy="640080"/>
          </a:xfrm>
          <a:prstGeom prst="ellipse">
            <a:avLst/>
          </a:prstGeom>
          <a:solidFill>
            <a:schemeClr val="accent1"/>
          </a:solidFill>
          <a:ln/>
        </p:spPr>
        <p:txBody>
          <a:bodyPr/>
          <a:lstStyle/>
          <a:p>
            <a:endParaRPr lang="en-US"/>
          </a:p>
        </p:txBody>
      </p:sp>
      <p:pic>
        <p:nvPicPr>
          <p:cNvPr id="16" name="Spending analysis icon" descr="Spending analysis icon"/>
          <p:cNvPicPr>
            <a:picLocks noChangeAspect="1"/>
          </p:cNvPicPr>
          <p:nvPr/>
        </p:nvPicPr>
        <p:blipFill>
          <a:blip r:embed="rId5"/>
          <a:stretch>
            <a:fillRect/>
          </a:stretch>
        </p:blipFill>
        <p:spPr>
          <a:xfrm>
            <a:off x="6610198" y="1773022"/>
            <a:ext cx="294437" cy="294437"/>
          </a:xfrm>
          <a:prstGeom prst="rect">
            <a:avLst/>
          </a:prstGeom>
        </p:spPr>
      </p:pic>
      <p:sp>
        <p:nvSpPr>
          <p:cNvPr id="17" name="Text 11"/>
          <p:cNvSpPr txBox="1"/>
          <p:nvPr/>
        </p:nvSpPr>
        <p:spPr>
          <a:xfrm>
            <a:off x="6437376" y="2377440"/>
            <a:ext cx="2144268" cy="320040"/>
          </a:xfrm>
          <a:prstGeom prst="rect">
            <a:avLst/>
          </a:prstGeom>
          <a:noFill/>
          <a:ln/>
        </p:spPr>
        <p:txBody>
          <a:bodyPr wrap="square" lIns="0" tIns="0" rIns="0" bIns="0" rtlCol="0" anchor="t"/>
          <a:lstStyle/>
          <a:p>
            <a:pPr marL="0" indent="0">
              <a:buNone/>
            </a:pPr>
            <a:r>
              <a:rPr lang="en-US" sz="1900" b="1" dirty="0">
                <a:solidFill>
                  <a:schemeClr val="tx2"/>
                </a:solidFill>
              </a:rPr>
              <a:t>Spending analysis</a:t>
            </a:r>
            <a:endParaRPr lang="en-US" sz="1900" dirty="0"/>
          </a:p>
        </p:txBody>
      </p:sp>
      <p:sp>
        <p:nvSpPr>
          <p:cNvPr id="18" name="Text 12"/>
          <p:cNvSpPr txBox="1"/>
          <p:nvPr/>
        </p:nvSpPr>
        <p:spPr>
          <a:xfrm>
            <a:off x="6437376" y="2743200"/>
            <a:ext cx="2144268" cy="822960"/>
          </a:xfrm>
          <a:prstGeom prst="rect">
            <a:avLst/>
          </a:prstGeom>
          <a:noFill/>
          <a:ln/>
        </p:spPr>
        <p:txBody>
          <a:bodyPr wrap="square" lIns="0" tIns="0" rIns="0" bIns="0" rtlCol="0" anchor="t"/>
          <a:lstStyle/>
          <a:p>
            <a:pPr marL="0" indent="0">
              <a:buNone/>
            </a:pPr>
            <a:r>
              <a:rPr lang="en-US" sz="1500" dirty="0">
                <a:solidFill>
                  <a:schemeClr val="tx1"/>
                </a:solidFill>
              </a:rPr>
              <a:t>Totals, averages, highest and lowest with Pandas</a:t>
            </a:r>
            <a:endParaRPr lang="en-US" sz="1500" dirty="0"/>
          </a:p>
        </p:txBody>
      </p:sp>
      <p:sp>
        <p:nvSpPr>
          <p:cNvPr id="19" name="Feature card Sort and search"/>
          <p:cNvSpPr/>
          <p:nvPr/>
        </p:nvSpPr>
        <p:spPr>
          <a:xfrm>
            <a:off x="9038844" y="1371600"/>
            <a:ext cx="2601468" cy="2240280"/>
          </a:xfrm>
          <a:prstGeom prst="roundRect">
            <a:avLst>
              <a:gd name="adj" fmla="val 3265"/>
            </a:avLst>
          </a:prstGeom>
          <a:solidFill>
            <a:schemeClr val="bg2"/>
          </a:solidFill>
          <a:ln/>
        </p:spPr>
        <p:txBody>
          <a:bodyPr/>
          <a:lstStyle/>
          <a:p>
            <a:endParaRPr lang="en-US"/>
          </a:p>
        </p:txBody>
      </p:sp>
      <p:sp>
        <p:nvSpPr>
          <p:cNvPr id="20" name="Sort and search icon circle"/>
          <p:cNvSpPr/>
          <p:nvPr/>
        </p:nvSpPr>
        <p:spPr>
          <a:xfrm>
            <a:off x="9267444" y="1600200"/>
            <a:ext cx="640080" cy="640080"/>
          </a:xfrm>
          <a:prstGeom prst="ellipse">
            <a:avLst/>
          </a:prstGeom>
          <a:solidFill>
            <a:schemeClr val="accent1"/>
          </a:solidFill>
          <a:ln/>
        </p:spPr>
        <p:txBody>
          <a:bodyPr/>
          <a:lstStyle/>
          <a:p>
            <a:endParaRPr lang="en-US"/>
          </a:p>
        </p:txBody>
      </p:sp>
      <p:pic>
        <p:nvPicPr>
          <p:cNvPr id="21" name="Sort and search icon" descr="Sort and search icon"/>
          <p:cNvPicPr>
            <a:picLocks noChangeAspect="1"/>
          </p:cNvPicPr>
          <p:nvPr/>
        </p:nvPicPr>
        <p:blipFill>
          <a:blip r:embed="rId6"/>
          <a:stretch>
            <a:fillRect/>
          </a:stretch>
        </p:blipFill>
        <p:spPr>
          <a:xfrm>
            <a:off x="9440266" y="1773022"/>
            <a:ext cx="294437" cy="294437"/>
          </a:xfrm>
          <a:prstGeom prst="rect">
            <a:avLst/>
          </a:prstGeom>
        </p:spPr>
      </p:pic>
      <p:sp>
        <p:nvSpPr>
          <p:cNvPr id="22" name="Text 15"/>
          <p:cNvSpPr txBox="1"/>
          <p:nvPr/>
        </p:nvSpPr>
        <p:spPr>
          <a:xfrm>
            <a:off x="9267444" y="2377440"/>
            <a:ext cx="2144268" cy="320040"/>
          </a:xfrm>
          <a:prstGeom prst="rect">
            <a:avLst/>
          </a:prstGeom>
          <a:noFill/>
          <a:ln/>
        </p:spPr>
        <p:txBody>
          <a:bodyPr wrap="square" lIns="0" tIns="0" rIns="0" bIns="0" rtlCol="0" anchor="t"/>
          <a:lstStyle/>
          <a:p>
            <a:pPr marL="0" indent="0">
              <a:buNone/>
            </a:pPr>
            <a:r>
              <a:rPr lang="en-US" sz="1900" b="1" dirty="0">
                <a:solidFill>
                  <a:schemeClr val="tx2"/>
                </a:solidFill>
              </a:rPr>
              <a:t>Sort and search</a:t>
            </a:r>
            <a:endParaRPr lang="en-US" sz="1900" dirty="0"/>
          </a:p>
        </p:txBody>
      </p:sp>
      <p:sp>
        <p:nvSpPr>
          <p:cNvPr id="23" name="Text 16"/>
          <p:cNvSpPr txBox="1"/>
          <p:nvPr/>
        </p:nvSpPr>
        <p:spPr>
          <a:xfrm>
            <a:off x="9267444" y="2743200"/>
            <a:ext cx="2144268" cy="822960"/>
          </a:xfrm>
          <a:prstGeom prst="rect">
            <a:avLst/>
          </a:prstGeom>
          <a:noFill/>
          <a:ln/>
        </p:spPr>
        <p:txBody>
          <a:bodyPr wrap="square" lIns="0" tIns="0" rIns="0" bIns="0" rtlCol="0" anchor="t"/>
          <a:lstStyle/>
          <a:p>
            <a:pPr marL="0" indent="0">
              <a:buNone/>
            </a:pPr>
            <a:r>
              <a:rPr lang="en-US" sz="1500" dirty="0">
                <a:solidFill>
                  <a:schemeClr val="tx1"/>
                </a:solidFill>
              </a:rPr>
              <a:t>Order by any field and find by description</a:t>
            </a:r>
            <a:endParaRPr lang="en-US" sz="1500" dirty="0"/>
          </a:p>
        </p:txBody>
      </p:sp>
      <p:sp>
        <p:nvSpPr>
          <p:cNvPr id="24" name="Feature card Visual reports"/>
          <p:cNvSpPr/>
          <p:nvPr/>
        </p:nvSpPr>
        <p:spPr>
          <a:xfrm>
            <a:off x="548640" y="3840480"/>
            <a:ext cx="2601468" cy="2240280"/>
          </a:xfrm>
          <a:prstGeom prst="roundRect">
            <a:avLst>
              <a:gd name="adj" fmla="val 3265"/>
            </a:avLst>
          </a:prstGeom>
          <a:solidFill>
            <a:schemeClr val="bg2"/>
          </a:solidFill>
          <a:ln/>
        </p:spPr>
        <p:txBody>
          <a:bodyPr/>
          <a:lstStyle/>
          <a:p>
            <a:endParaRPr lang="en-US"/>
          </a:p>
        </p:txBody>
      </p:sp>
      <p:sp>
        <p:nvSpPr>
          <p:cNvPr id="25" name="Visual reports icon circle"/>
          <p:cNvSpPr/>
          <p:nvPr/>
        </p:nvSpPr>
        <p:spPr>
          <a:xfrm>
            <a:off x="777240" y="4069080"/>
            <a:ext cx="640080" cy="640080"/>
          </a:xfrm>
          <a:prstGeom prst="ellipse">
            <a:avLst/>
          </a:prstGeom>
          <a:solidFill>
            <a:schemeClr val="accent1"/>
          </a:solidFill>
          <a:ln/>
        </p:spPr>
        <p:txBody>
          <a:bodyPr/>
          <a:lstStyle/>
          <a:p>
            <a:endParaRPr lang="en-US"/>
          </a:p>
        </p:txBody>
      </p:sp>
      <p:pic>
        <p:nvPicPr>
          <p:cNvPr id="26" name="Visual reports icon" descr="Visual reports icon"/>
          <p:cNvPicPr>
            <a:picLocks noChangeAspect="1"/>
          </p:cNvPicPr>
          <p:nvPr/>
        </p:nvPicPr>
        <p:blipFill>
          <a:blip r:embed="rId7"/>
          <a:stretch>
            <a:fillRect/>
          </a:stretch>
        </p:blipFill>
        <p:spPr>
          <a:xfrm>
            <a:off x="950062" y="4241902"/>
            <a:ext cx="294437" cy="294437"/>
          </a:xfrm>
          <a:prstGeom prst="rect">
            <a:avLst/>
          </a:prstGeom>
        </p:spPr>
      </p:pic>
      <p:sp>
        <p:nvSpPr>
          <p:cNvPr id="27" name="Text 19"/>
          <p:cNvSpPr txBox="1"/>
          <p:nvPr/>
        </p:nvSpPr>
        <p:spPr>
          <a:xfrm>
            <a:off x="777240" y="4846320"/>
            <a:ext cx="2144268" cy="320040"/>
          </a:xfrm>
          <a:prstGeom prst="rect">
            <a:avLst/>
          </a:prstGeom>
          <a:noFill/>
          <a:ln/>
        </p:spPr>
        <p:txBody>
          <a:bodyPr wrap="square" lIns="0" tIns="0" rIns="0" bIns="0" rtlCol="0" anchor="t"/>
          <a:lstStyle/>
          <a:p>
            <a:pPr marL="0" indent="0">
              <a:buNone/>
            </a:pPr>
            <a:r>
              <a:rPr lang="en-US" sz="1900" b="1" dirty="0">
                <a:solidFill>
                  <a:schemeClr val="tx2"/>
                </a:solidFill>
              </a:rPr>
              <a:t>Visual reports</a:t>
            </a:r>
            <a:endParaRPr lang="en-US" sz="1900" dirty="0"/>
          </a:p>
        </p:txBody>
      </p:sp>
      <p:sp>
        <p:nvSpPr>
          <p:cNvPr id="28" name="Text 20"/>
          <p:cNvSpPr txBox="1"/>
          <p:nvPr/>
        </p:nvSpPr>
        <p:spPr>
          <a:xfrm>
            <a:off x="777240" y="5212080"/>
            <a:ext cx="2144268" cy="822960"/>
          </a:xfrm>
          <a:prstGeom prst="rect">
            <a:avLst/>
          </a:prstGeom>
          <a:noFill/>
          <a:ln/>
        </p:spPr>
        <p:txBody>
          <a:bodyPr wrap="square" lIns="0" tIns="0" rIns="0" bIns="0" rtlCol="0" anchor="t"/>
          <a:lstStyle/>
          <a:p>
            <a:pPr marL="0" indent="0">
              <a:buNone/>
            </a:pPr>
            <a:r>
              <a:rPr lang="en-US" sz="1500" dirty="0">
                <a:solidFill>
                  <a:schemeClr val="tx1"/>
                </a:solidFill>
              </a:rPr>
              <a:t>Bar, pie, line and histogram charts</a:t>
            </a:r>
            <a:endParaRPr lang="en-US" sz="1500" dirty="0"/>
          </a:p>
        </p:txBody>
      </p:sp>
      <p:sp>
        <p:nvSpPr>
          <p:cNvPr id="29" name="Feature card File storage"/>
          <p:cNvSpPr/>
          <p:nvPr/>
        </p:nvSpPr>
        <p:spPr>
          <a:xfrm>
            <a:off x="3378708" y="3840480"/>
            <a:ext cx="2601468" cy="2240280"/>
          </a:xfrm>
          <a:prstGeom prst="roundRect">
            <a:avLst>
              <a:gd name="adj" fmla="val 3265"/>
            </a:avLst>
          </a:prstGeom>
          <a:solidFill>
            <a:schemeClr val="bg2"/>
          </a:solidFill>
          <a:ln/>
        </p:spPr>
        <p:txBody>
          <a:bodyPr/>
          <a:lstStyle/>
          <a:p>
            <a:endParaRPr lang="en-US"/>
          </a:p>
        </p:txBody>
      </p:sp>
      <p:sp>
        <p:nvSpPr>
          <p:cNvPr id="30" name="File storage icon circle"/>
          <p:cNvSpPr/>
          <p:nvPr/>
        </p:nvSpPr>
        <p:spPr>
          <a:xfrm>
            <a:off x="3607308" y="4069080"/>
            <a:ext cx="640080" cy="640080"/>
          </a:xfrm>
          <a:prstGeom prst="ellipse">
            <a:avLst/>
          </a:prstGeom>
          <a:solidFill>
            <a:schemeClr val="accent1"/>
          </a:solidFill>
          <a:ln/>
        </p:spPr>
        <p:txBody>
          <a:bodyPr/>
          <a:lstStyle/>
          <a:p>
            <a:endParaRPr lang="en-US"/>
          </a:p>
        </p:txBody>
      </p:sp>
      <p:pic>
        <p:nvPicPr>
          <p:cNvPr id="31" name="File storage icon" descr="File storage icon"/>
          <p:cNvPicPr>
            <a:picLocks noChangeAspect="1"/>
          </p:cNvPicPr>
          <p:nvPr/>
        </p:nvPicPr>
        <p:blipFill>
          <a:blip r:embed="rId8"/>
          <a:stretch>
            <a:fillRect/>
          </a:stretch>
        </p:blipFill>
        <p:spPr>
          <a:xfrm>
            <a:off x="3780130" y="4241902"/>
            <a:ext cx="294437" cy="294437"/>
          </a:xfrm>
          <a:prstGeom prst="rect">
            <a:avLst/>
          </a:prstGeom>
        </p:spPr>
      </p:pic>
      <p:sp>
        <p:nvSpPr>
          <p:cNvPr id="32" name="Text 23"/>
          <p:cNvSpPr txBox="1"/>
          <p:nvPr/>
        </p:nvSpPr>
        <p:spPr>
          <a:xfrm>
            <a:off x="3607308" y="4846320"/>
            <a:ext cx="2144268" cy="320040"/>
          </a:xfrm>
          <a:prstGeom prst="rect">
            <a:avLst/>
          </a:prstGeom>
          <a:noFill/>
          <a:ln/>
        </p:spPr>
        <p:txBody>
          <a:bodyPr wrap="square" lIns="0" tIns="0" rIns="0" bIns="0" rtlCol="0" anchor="t"/>
          <a:lstStyle/>
          <a:p>
            <a:pPr marL="0" indent="0">
              <a:buNone/>
            </a:pPr>
            <a:r>
              <a:rPr lang="en-US" sz="1900" b="1" dirty="0">
                <a:solidFill>
                  <a:schemeClr val="tx2"/>
                </a:solidFill>
              </a:rPr>
              <a:t>File storage</a:t>
            </a:r>
            <a:endParaRPr lang="en-US" sz="1900" dirty="0"/>
          </a:p>
        </p:txBody>
      </p:sp>
      <p:sp>
        <p:nvSpPr>
          <p:cNvPr id="33" name="Text 24"/>
          <p:cNvSpPr txBox="1"/>
          <p:nvPr/>
        </p:nvSpPr>
        <p:spPr>
          <a:xfrm>
            <a:off x="3607308" y="5212080"/>
            <a:ext cx="2144268" cy="822960"/>
          </a:xfrm>
          <a:prstGeom prst="rect">
            <a:avLst/>
          </a:prstGeom>
          <a:noFill/>
          <a:ln/>
        </p:spPr>
        <p:txBody>
          <a:bodyPr wrap="square" lIns="0" tIns="0" rIns="0" bIns="0" rtlCol="0" anchor="t"/>
          <a:lstStyle/>
          <a:p>
            <a:pPr marL="0" indent="0">
              <a:buNone/>
            </a:pPr>
            <a:r>
              <a:rPr lang="en-US" sz="1500" dirty="0">
                <a:solidFill>
                  <a:schemeClr val="tx1"/>
                </a:solidFill>
              </a:rPr>
              <a:t>CSV records saved with safe writes</a:t>
            </a:r>
            <a:endParaRPr lang="en-US" sz="1500" dirty="0"/>
          </a:p>
        </p:txBody>
      </p:sp>
      <p:sp>
        <p:nvSpPr>
          <p:cNvPr id="34" name="Feature card User accounts"/>
          <p:cNvSpPr/>
          <p:nvPr/>
        </p:nvSpPr>
        <p:spPr>
          <a:xfrm>
            <a:off x="6208776" y="3840480"/>
            <a:ext cx="2601468" cy="2240280"/>
          </a:xfrm>
          <a:prstGeom prst="roundRect">
            <a:avLst>
              <a:gd name="adj" fmla="val 3265"/>
            </a:avLst>
          </a:prstGeom>
          <a:solidFill>
            <a:schemeClr val="bg2"/>
          </a:solidFill>
          <a:ln/>
        </p:spPr>
        <p:txBody>
          <a:bodyPr/>
          <a:lstStyle/>
          <a:p>
            <a:endParaRPr lang="en-US"/>
          </a:p>
        </p:txBody>
      </p:sp>
      <p:sp>
        <p:nvSpPr>
          <p:cNvPr id="35" name="User accounts icon circle"/>
          <p:cNvSpPr/>
          <p:nvPr/>
        </p:nvSpPr>
        <p:spPr>
          <a:xfrm>
            <a:off x="6437376" y="4069080"/>
            <a:ext cx="640080" cy="640080"/>
          </a:xfrm>
          <a:prstGeom prst="ellipse">
            <a:avLst/>
          </a:prstGeom>
          <a:solidFill>
            <a:schemeClr val="accent1"/>
          </a:solidFill>
          <a:ln/>
        </p:spPr>
        <p:txBody>
          <a:bodyPr/>
          <a:lstStyle/>
          <a:p>
            <a:endParaRPr lang="en-US"/>
          </a:p>
        </p:txBody>
      </p:sp>
      <p:pic>
        <p:nvPicPr>
          <p:cNvPr id="36" name="User accounts icon" descr="User accounts icon"/>
          <p:cNvPicPr>
            <a:picLocks noChangeAspect="1"/>
          </p:cNvPicPr>
          <p:nvPr/>
        </p:nvPicPr>
        <p:blipFill>
          <a:blip r:embed="rId9"/>
          <a:stretch>
            <a:fillRect/>
          </a:stretch>
        </p:blipFill>
        <p:spPr>
          <a:xfrm>
            <a:off x="6610198" y="4241902"/>
            <a:ext cx="294437" cy="294437"/>
          </a:xfrm>
          <a:prstGeom prst="rect">
            <a:avLst/>
          </a:prstGeom>
        </p:spPr>
      </p:pic>
      <p:sp>
        <p:nvSpPr>
          <p:cNvPr id="37" name="Text 27"/>
          <p:cNvSpPr txBox="1"/>
          <p:nvPr/>
        </p:nvSpPr>
        <p:spPr>
          <a:xfrm>
            <a:off x="6437376" y="4846320"/>
            <a:ext cx="2144268" cy="320040"/>
          </a:xfrm>
          <a:prstGeom prst="rect">
            <a:avLst/>
          </a:prstGeom>
          <a:noFill/>
          <a:ln/>
        </p:spPr>
        <p:txBody>
          <a:bodyPr wrap="square" lIns="0" tIns="0" rIns="0" bIns="0" rtlCol="0" anchor="t"/>
          <a:lstStyle/>
          <a:p>
            <a:pPr marL="0" indent="0">
              <a:buNone/>
            </a:pPr>
            <a:r>
              <a:rPr lang="en-US" sz="1900" b="1" dirty="0">
                <a:solidFill>
                  <a:schemeClr val="tx2"/>
                </a:solidFill>
              </a:rPr>
              <a:t>User accounts</a:t>
            </a:r>
            <a:endParaRPr lang="en-US" sz="1900" dirty="0"/>
          </a:p>
        </p:txBody>
      </p:sp>
      <p:sp>
        <p:nvSpPr>
          <p:cNvPr id="38" name="Text 28"/>
          <p:cNvSpPr txBox="1"/>
          <p:nvPr/>
        </p:nvSpPr>
        <p:spPr>
          <a:xfrm>
            <a:off x="6437376" y="5212080"/>
            <a:ext cx="2144268" cy="822960"/>
          </a:xfrm>
          <a:prstGeom prst="rect">
            <a:avLst/>
          </a:prstGeom>
          <a:noFill/>
          <a:ln/>
        </p:spPr>
        <p:txBody>
          <a:bodyPr wrap="square" lIns="0" tIns="0" rIns="0" bIns="0" rtlCol="0" anchor="t"/>
          <a:lstStyle/>
          <a:p>
            <a:pPr marL="0" indent="0">
              <a:buNone/>
            </a:pPr>
            <a:r>
              <a:rPr lang="en-US" sz="1500" dirty="0">
                <a:solidFill>
                  <a:schemeClr val="tx1"/>
                </a:solidFill>
              </a:rPr>
              <a:t>Sign up, sign in and private data per user</a:t>
            </a:r>
            <a:endParaRPr lang="en-US" sz="1500" dirty="0"/>
          </a:p>
        </p:txBody>
      </p:sp>
      <p:sp>
        <p:nvSpPr>
          <p:cNvPr id="39" name="Feature card Monthly reports"/>
          <p:cNvSpPr/>
          <p:nvPr/>
        </p:nvSpPr>
        <p:spPr>
          <a:xfrm>
            <a:off x="9038844" y="3840480"/>
            <a:ext cx="2601468" cy="2240280"/>
          </a:xfrm>
          <a:prstGeom prst="roundRect">
            <a:avLst>
              <a:gd name="adj" fmla="val 3265"/>
            </a:avLst>
          </a:prstGeom>
          <a:solidFill>
            <a:schemeClr val="bg2"/>
          </a:solidFill>
          <a:ln/>
        </p:spPr>
        <p:txBody>
          <a:bodyPr/>
          <a:lstStyle/>
          <a:p>
            <a:endParaRPr lang="en-US"/>
          </a:p>
        </p:txBody>
      </p:sp>
      <p:sp>
        <p:nvSpPr>
          <p:cNvPr id="40" name="Monthly reports icon circle"/>
          <p:cNvSpPr/>
          <p:nvPr/>
        </p:nvSpPr>
        <p:spPr>
          <a:xfrm>
            <a:off x="9267444" y="4069080"/>
            <a:ext cx="640080" cy="640080"/>
          </a:xfrm>
          <a:prstGeom prst="ellipse">
            <a:avLst/>
          </a:prstGeom>
          <a:solidFill>
            <a:schemeClr val="accent1"/>
          </a:solidFill>
          <a:ln/>
        </p:spPr>
        <p:txBody>
          <a:bodyPr/>
          <a:lstStyle/>
          <a:p>
            <a:endParaRPr lang="en-US"/>
          </a:p>
        </p:txBody>
      </p:sp>
      <p:pic>
        <p:nvPicPr>
          <p:cNvPr id="41" name="Monthly reports icon" descr="Monthly reports icon"/>
          <p:cNvPicPr>
            <a:picLocks noChangeAspect="1"/>
          </p:cNvPicPr>
          <p:nvPr/>
        </p:nvPicPr>
        <p:blipFill>
          <a:blip r:embed="rId10"/>
          <a:stretch>
            <a:fillRect/>
          </a:stretch>
        </p:blipFill>
        <p:spPr>
          <a:xfrm>
            <a:off x="9440266" y="4241902"/>
            <a:ext cx="294437" cy="294437"/>
          </a:xfrm>
          <a:prstGeom prst="rect">
            <a:avLst/>
          </a:prstGeom>
        </p:spPr>
      </p:pic>
      <p:sp>
        <p:nvSpPr>
          <p:cNvPr id="42" name="Text 31"/>
          <p:cNvSpPr txBox="1"/>
          <p:nvPr/>
        </p:nvSpPr>
        <p:spPr>
          <a:xfrm>
            <a:off x="9267444" y="4846320"/>
            <a:ext cx="2144268" cy="320040"/>
          </a:xfrm>
          <a:prstGeom prst="rect">
            <a:avLst/>
          </a:prstGeom>
          <a:noFill/>
          <a:ln/>
        </p:spPr>
        <p:txBody>
          <a:bodyPr wrap="square" lIns="0" tIns="0" rIns="0" bIns="0" rtlCol="0" anchor="t"/>
          <a:lstStyle/>
          <a:p>
            <a:pPr marL="0" indent="0">
              <a:buNone/>
            </a:pPr>
            <a:r>
              <a:rPr lang="en-US" sz="1900" b="1" dirty="0">
                <a:solidFill>
                  <a:schemeClr val="tx2"/>
                </a:solidFill>
              </a:rPr>
              <a:t>Monthly reports</a:t>
            </a:r>
            <a:endParaRPr lang="en-US" sz="1900" dirty="0"/>
          </a:p>
        </p:txBody>
      </p:sp>
      <p:sp>
        <p:nvSpPr>
          <p:cNvPr id="43" name="Text 32"/>
          <p:cNvSpPr txBox="1"/>
          <p:nvPr/>
        </p:nvSpPr>
        <p:spPr>
          <a:xfrm>
            <a:off x="9267444" y="5212080"/>
            <a:ext cx="2144268" cy="822960"/>
          </a:xfrm>
          <a:prstGeom prst="rect">
            <a:avLst/>
          </a:prstGeom>
          <a:noFill/>
          <a:ln/>
        </p:spPr>
        <p:txBody>
          <a:bodyPr wrap="square" lIns="0" tIns="0" rIns="0" bIns="0" rtlCol="0" anchor="t"/>
          <a:lstStyle/>
          <a:p>
            <a:pPr marL="0" indent="0">
              <a:buNone/>
            </a:pPr>
            <a:r>
              <a:rPr lang="en-US" sz="1500" dirty="0">
                <a:solidFill>
                  <a:schemeClr val="tx1"/>
                </a:solidFill>
              </a:rPr>
              <a:t>Pick any month for a focused summary</a:t>
            </a:r>
            <a:endParaRPr lang="en-US" sz="15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Project Methodology</a:t>
            </a:r>
            <a:endParaRPr lang="en-US" sz="3400" dirty="0"/>
          </a:p>
        </p:txBody>
      </p:sp>
      <p:sp>
        <p:nvSpPr>
          <p:cNvPr id="4" name="Text 1"/>
          <p:cNvSpPr txBox="1"/>
          <p:nvPr/>
        </p:nvSpPr>
        <p:spPr>
          <a:xfrm>
            <a:off x="548640" y="1325880"/>
            <a:ext cx="11091672" cy="365760"/>
          </a:xfrm>
          <a:prstGeom prst="rect">
            <a:avLst/>
          </a:prstGeom>
          <a:noFill/>
          <a:ln/>
        </p:spPr>
        <p:txBody>
          <a:bodyPr wrap="square" lIns="0" tIns="0" rIns="0" bIns="0" rtlCol="0" anchor="t"/>
          <a:lstStyle/>
          <a:p>
            <a:pPr marL="0" indent="0">
              <a:buNone/>
            </a:pPr>
            <a:r>
              <a:rPr lang="en-US" sz="1800" i="1" dirty="0">
                <a:solidFill>
                  <a:schemeClr val="tx1"/>
                </a:solidFill>
              </a:rPr>
              <a:t>Incremental development: each module is built, tested and then integrated.</a:t>
            </a:r>
            <a:endParaRPr lang="en-US" sz="1800" dirty="0"/>
          </a:p>
        </p:txBody>
      </p:sp>
      <p:sp>
        <p:nvSpPr>
          <p:cNvPr id="5" name="Phase Requirements"/>
          <p:cNvSpPr/>
          <p:nvPr/>
        </p:nvSpPr>
        <p:spPr>
          <a:xfrm>
            <a:off x="548640" y="1828800"/>
            <a:ext cx="2286000" cy="68580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Requirements</a:t>
            </a:r>
            <a:endParaRPr lang="en-US" sz="1500" dirty="0"/>
          </a:p>
        </p:txBody>
      </p:sp>
      <p:sp>
        <p:nvSpPr>
          <p:cNvPr id="6" name="Text 3"/>
          <p:cNvSpPr txBox="1"/>
          <p:nvPr/>
        </p:nvSpPr>
        <p:spPr>
          <a:xfrm>
            <a:off x="777240" y="2606040"/>
            <a:ext cx="1874520" cy="685800"/>
          </a:xfrm>
          <a:prstGeom prst="rect">
            <a:avLst/>
          </a:prstGeom>
          <a:noFill/>
          <a:ln/>
        </p:spPr>
        <p:txBody>
          <a:bodyPr wrap="square" lIns="0" tIns="0" rIns="0" bIns="0" rtlCol="0" anchor="t"/>
          <a:lstStyle/>
          <a:p>
            <a:pPr marL="0" indent="0">
              <a:buNone/>
            </a:pPr>
            <a:r>
              <a:rPr lang="en-US" sz="1500" dirty="0">
                <a:solidFill>
                  <a:schemeClr val="tx1"/>
                </a:solidFill>
              </a:rPr>
              <a:t>Features and users from the project brief</a:t>
            </a:r>
            <a:endParaRPr lang="en-US" sz="1500" dirty="0"/>
          </a:p>
        </p:txBody>
      </p:sp>
      <p:sp>
        <p:nvSpPr>
          <p:cNvPr id="7" name="Phase Design"/>
          <p:cNvSpPr/>
          <p:nvPr/>
        </p:nvSpPr>
        <p:spPr>
          <a:xfrm>
            <a:off x="2743200" y="1828800"/>
            <a:ext cx="2286000" cy="68580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Design</a:t>
            </a:r>
            <a:endParaRPr lang="en-US" sz="1500" dirty="0"/>
          </a:p>
        </p:txBody>
      </p:sp>
      <p:sp>
        <p:nvSpPr>
          <p:cNvPr id="8" name="Text 5"/>
          <p:cNvSpPr txBox="1"/>
          <p:nvPr/>
        </p:nvSpPr>
        <p:spPr>
          <a:xfrm>
            <a:off x="2971800" y="2606040"/>
            <a:ext cx="1874520" cy="685800"/>
          </a:xfrm>
          <a:prstGeom prst="rect">
            <a:avLst/>
          </a:prstGeom>
          <a:noFill/>
          <a:ln/>
        </p:spPr>
        <p:txBody>
          <a:bodyPr wrap="square" lIns="0" tIns="0" rIns="0" bIns="0" rtlCol="0" anchor="t"/>
          <a:lstStyle/>
          <a:p>
            <a:pPr marL="0" indent="0">
              <a:buNone/>
            </a:pPr>
            <a:r>
              <a:rPr lang="en-US" sz="1500" dirty="0">
                <a:solidFill>
                  <a:schemeClr val="tx1"/>
                </a:solidFill>
              </a:rPr>
              <a:t>Modules, data files and screens</a:t>
            </a:r>
            <a:endParaRPr lang="en-US" sz="1500" dirty="0"/>
          </a:p>
        </p:txBody>
      </p:sp>
      <p:sp>
        <p:nvSpPr>
          <p:cNvPr id="9" name="Phase Implementation"/>
          <p:cNvSpPr/>
          <p:nvPr/>
        </p:nvSpPr>
        <p:spPr>
          <a:xfrm>
            <a:off x="4937760" y="1828800"/>
            <a:ext cx="2286000" cy="68580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Implementation</a:t>
            </a:r>
            <a:endParaRPr lang="en-US" sz="1500" dirty="0"/>
          </a:p>
        </p:txBody>
      </p:sp>
      <p:sp>
        <p:nvSpPr>
          <p:cNvPr id="10" name="Text 7"/>
          <p:cNvSpPr txBox="1"/>
          <p:nvPr/>
        </p:nvSpPr>
        <p:spPr>
          <a:xfrm>
            <a:off x="5166360" y="2606040"/>
            <a:ext cx="1874520" cy="685800"/>
          </a:xfrm>
          <a:prstGeom prst="rect">
            <a:avLst/>
          </a:prstGeom>
          <a:noFill/>
          <a:ln/>
        </p:spPr>
        <p:txBody>
          <a:bodyPr wrap="square" lIns="0" tIns="0" rIns="0" bIns="0" rtlCol="0" anchor="t"/>
          <a:lstStyle/>
          <a:p>
            <a:pPr marL="0" indent="0">
              <a:buNone/>
            </a:pPr>
            <a:r>
              <a:rPr lang="en-US" sz="1500" dirty="0">
                <a:solidFill>
                  <a:schemeClr val="tx1"/>
                </a:solidFill>
              </a:rPr>
              <a:t>Python code written in VS Code</a:t>
            </a:r>
            <a:endParaRPr lang="en-US" sz="1500" dirty="0"/>
          </a:p>
        </p:txBody>
      </p:sp>
      <p:sp>
        <p:nvSpPr>
          <p:cNvPr id="11" name="Phase Testing"/>
          <p:cNvSpPr/>
          <p:nvPr/>
        </p:nvSpPr>
        <p:spPr>
          <a:xfrm>
            <a:off x="7132320" y="1828800"/>
            <a:ext cx="2286000" cy="68580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Testing</a:t>
            </a:r>
            <a:endParaRPr lang="en-US" sz="1500" dirty="0"/>
          </a:p>
        </p:txBody>
      </p:sp>
      <p:sp>
        <p:nvSpPr>
          <p:cNvPr id="12" name="Text 9"/>
          <p:cNvSpPr txBox="1"/>
          <p:nvPr/>
        </p:nvSpPr>
        <p:spPr>
          <a:xfrm>
            <a:off x="7360920" y="2606040"/>
            <a:ext cx="1874520" cy="685800"/>
          </a:xfrm>
          <a:prstGeom prst="rect">
            <a:avLst/>
          </a:prstGeom>
          <a:noFill/>
          <a:ln/>
        </p:spPr>
        <p:txBody>
          <a:bodyPr wrap="square" lIns="0" tIns="0" rIns="0" bIns="0" rtlCol="0" anchor="t"/>
          <a:lstStyle/>
          <a:p>
            <a:pPr marL="0" indent="0">
              <a:buNone/>
            </a:pPr>
            <a:r>
              <a:rPr lang="en-US" sz="1500" dirty="0">
                <a:solidFill>
                  <a:schemeClr val="tx1"/>
                </a:solidFill>
              </a:rPr>
              <a:t>Unit and web tests on every module</a:t>
            </a:r>
            <a:endParaRPr lang="en-US" sz="1500" dirty="0"/>
          </a:p>
        </p:txBody>
      </p:sp>
      <p:sp>
        <p:nvSpPr>
          <p:cNvPr id="13" name="Phase Review"/>
          <p:cNvSpPr/>
          <p:nvPr/>
        </p:nvSpPr>
        <p:spPr>
          <a:xfrm>
            <a:off x="9326880" y="1828800"/>
            <a:ext cx="2286000" cy="685800"/>
          </a:xfrm>
          <a:prstGeom prst="chevron">
            <a:avLst/>
          </a:prstGeom>
          <a:solidFill>
            <a:schemeClr val="accent2"/>
          </a:solidFill>
          <a:ln/>
        </p:spPr>
        <p:txBody>
          <a:bodyPr wrap="square" lIns="0" tIns="0" rIns="0" bIns="0" rtlCol="0" anchor="ctr"/>
          <a:lstStyle/>
          <a:p>
            <a:pPr marL="0" indent="0" algn="ctr">
              <a:buNone/>
            </a:pPr>
            <a:r>
              <a:rPr lang="en-US" sz="1500" b="1" dirty="0">
                <a:solidFill>
                  <a:schemeClr val="tx1"/>
                </a:solidFill>
              </a:rPr>
              <a:t>Review</a:t>
            </a:r>
            <a:endParaRPr lang="en-US" sz="1500" dirty="0"/>
          </a:p>
        </p:txBody>
      </p:sp>
      <p:sp>
        <p:nvSpPr>
          <p:cNvPr id="14" name="Text 11"/>
          <p:cNvSpPr txBox="1"/>
          <p:nvPr/>
        </p:nvSpPr>
        <p:spPr>
          <a:xfrm>
            <a:off x="9555480" y="2606040"/>
            <a:ext cx="1874520" cy="685800"/>
          </a:xfrm>
          <a:prstGeom prst="rect">
            <a:avLst/>
          </a:prstGeom>
          <a:noFill/>
          <a:ln/>
        </p:spPr>
        <p:txBody>
          <a:bodyPr wrap="square" lIns="0" tIns="0" rIns="0" bIns="0" rtlCol="0" anchor="t"/>
          <a:lstStyle/>
          <a:p>
            <a:pPr marL="0" indent="0">
              <a:buNone/>
            </a:pPr>
            <a:r>
              <a:rPr lang="en-US" sz="1500" dirty="0">
                <a:solidFill>
                  <a:schemeClr val="tx1"/>
                </a:solidFill>
              </a:rPr>
              <a:t>Refine from results and feedback</a:t>
            </a:r>
            <a:endParaRPr lang="en-US" sz="1500" dirty="0"/>
          </a:p>
        </p:txBody>
      </p:sp>
      <p:graphicFrame>
        <p:nvGraphicFramePr>
          <p:cNvPr id="3" name="Technology table"/>
          <p:cNvGraphicFramePr>
            <a:graphicFrameLocks noGrp="1"/>
          </p:cNvGraphicFramePr>
          <p:nvPr>
            <p:extLst>
              <p:ext uri="{D42A27DB-BD31-4B8C-83A1-F6EECF244321}">
                <p14:modId xmlns:p14="http://schemas.microsoft.com/office/powerpoint/2010/main" val="1579011935"/>
              </p:ext>
            </p:extLst>
          </p:nvPr>
        </p:nvGraphicFramePr>
        <p:xfrm>
          <a:off x="548640" y="3474720"/>
          <a:ext cx="11091672" cy="2377440"/>
        </p:xfrm>
        <a:graphic>
          <a:graphicData uri="http://schemas.openxmlformats.org/drawingml/2006/table">
            <a:tbl>
              <a:tblPr/>
              <a:tblGrid>
                <a:gridCol w="17373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822192">
                  <a:extLst>
                    <a:ext uri="{9D8B030D-6E8A-4147-A177-3AD203B41FA5}">
                      <a16:colId xmlns:a16="http://schemas.microsoft.com/office/drawing/2014/main" val="20003"/>
                    </a:ext>
                  </a:extLst>
                </a:gridCol>
              </a:tblGrid>
              <a:tr h="475488">
                <a:tc>
                  <a:txBody>
                    <a:bodyPr/>
                    <a:lstStyle/>
                    <a:p>
                      <a:pPr marL="0" indent="0">
                        <a:buNone/>
                      </a:pPr>
                      <a:r>
                        <a:rPr lang="en-US" sz="1600" b="1" dirty="0">
                          <a:solidFill>
                            <a:schemeClr val="bg1"/>
                          </a:solidFill>
                        </a:rPr>
                        <a:t>Area</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Technology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Area</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600" b="1" dirty="0">
                          <a:solidFill>
                            <a:schemeClr val="bg1"/>
                          </a:solidFill>
                        </a:rPr>
                        <a:t>Technology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en-US" sz="1600" b="1" dirty="0">
                          <a:solidFill>
                            <a:schemeClr val="tx2"/>
                          </a:solidFill>
                        </a:rPr>
                        <a:t>Language</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Python 3.10 or later</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b="1" dirty="0">
                          <a:solidFill>
                            <a:schemeClr val="tx2"/>
                          </a:solidFill>
                        </a:rPr>
                        <a:t>Data analysis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Pandas DataFrames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buNone/>
                      </a:pPr>
                      <a:r>
                        <a:rPr lang="en-US" sz="1600" b="1" dirty="0">
                          <a:solidFill>
                            <a:schemeClr val="tx2"/>
                          </a:solidFill>
                        </a:rPr>
                        <a:t>Visualisation</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Matplotlib</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b="1" dirty="0">
                          <a:solidFill>
                            <a:schemeClr val="tx2"/>
                          </a:solidFill>
                        </a:rPr>
                        <a:t>Web framework</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Flask with Jinja2 templates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buNone/>
                      </a:pPr>
                      <a:r>
                        <a:rPr lang="en-US" sz="1600" b="1" dirty="0">
                          <a:solidFill>
                            <a:schemeClr val="tx2"/>
                          </a:solidFill>
                        </a:rPr>
                        <a:t>Storage</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CSV files and SQLite</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b="1" dirty="0">
                          <a:solidFill>
                            <a:schemeClr val="tx2"/>
                          </a:solidFill>
                        </a:rPr>
                        <a:t>Security</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Hashed passwords, CSRF tokens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buNone/>
                      </a:pPr>
                      <a:r>
                        <a:rPr lang="en-US" sz="1600" b="1" dirty="0">
                          <a:solidFill>
                            <a:schemeClr val="tx2"/>
                          </a:solidFill>
                        </a:rPr>
                        <a:t>Tools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Visual Studio Code, Safari</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b="1" dirty="0">
                          <a:solidFill>
                            <a:schemeClr val="tx2"/>
                          </a:solidFill>
                        </a:rPr>
                        <a:t>Testing</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unittest, 39 tests</a:t>
                      </a:r>
                      <a:endParaRPr lang="en-US" sz="1600" dirty="0"/>
                    </a:p>
                  </a:txBody>
                  <a:tcPr marT="91440" marB="91440"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Internal Structure: Architecture and Modules</a:t>
            </a:r>
            <a:endParaRPr lang="en-US" sz="3400" dirty="0"/>
          </a:p>
        </p:txBody>
      </p:sp>
      <p:sp>
        <p:nvSpPr>
          <p:cNvPr id="4" name="Layer label Presentation layer"/>
          <p:cNvSpPr/>
          <p:nvPr/>
        </p:nvSpPr>
        <p:spPr>
          <a:xfrm>
            <a:off x="548640" y="1371600"/>
            <a:ext cx="1920240"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700" b="1" dirty="0">
                <a:solidFill>
                  <a:schemeClr val="bg1"/>
                </a:solidFill>
              </a:rPr>
              <a:t>Presentation layer</a:t>
            </a:r>
            <a:endParaRPr lang="en-US" sz="1700" dirty="0"/>
          </a:p>
        </p:txBody>
      </p:sp>
      <p:sp>
        <p:nvSpPr>
          <p:cNvPr id="5" name="Box Browser interface"/>
          <p:cNvSpPr/>
          <p:nvPr/>
        </p:nvSpPr>
        <p:spPr>
          <a:xfrm>
            <a:off x="2697480" y="1371600"/>
            <a:ext cx="4370832" cy="914400"/>
          </a:xfrm>
          <a:prstGeom prst="roundRect">
            <a:avLst>
              <a:gd name="adj" fmla="val 8000"/>
            </a:avLst>
          </a:prstGeom>
          <a:solidFill>
            <a:schemeClr val="bg2"/>
          </a:solidFill>
          <a:ln/>
        </p:spPr>
        <p:txBody>
          <a:bodyPr/>
          <a:lstStyle/>
          <a:p>
            <a:endParaRPr lang="en-US"/>
          </a:p>
        </p:txBody>
      </p:sp>
      <p:sp>
        <p:nvSpPr>
          <p:cNvPr id="6" name="Text 3"/>
          <p:cNvSpPr txBox="1"/>
          <p:nvPr/>
        </p:nvSpPr>
        <p:spPr>
          <a:xfrm>
            <a:off x="2788920" y="1371600"/>
            <a:ext cx="4187952" cy="914400"/>
          </a:xfrm>
          <a:prstGeom prst="rect">
            <a:avLst/>
          </a:prstGeom>
          <a:noFill/>
          <a:ln/>
        </p:spPr>
        <p:txBody>
          <a:bodyPr wrap="square" lIns="0" tIns="0" rIns="0" bIns="0" rtlCol="0" anchor="ctr"/>
          <a:lstStyle/>
          <a:p>
            <a:pPr marL="0" indent="0" algn="ctr">
              <a:buNone/>
            </a:pPr>
            <a:r>
              <a:rPr lang="en-US" sz="1500" b="1" dirty="0">
                <a:solidFill>
                  <a:schemeClr val="tx2"/>
                </a:solidFill>
              </a:rPr>
              <a:t>Browser interface</a:t>
            </a:r>
            <a:endParaRPr lang="en-US" sz="1500" dirty="0"/>
          </a:p>
          <a:p>
            <a:pPr marL="0" indent="0" algn="ctr">
              <a:buNone/>
            </a:pPr>
            <a:r>
              <a:rPr lang="en-US" sz="1500" dirty="0">
                <a:solidFill>
                  <a:schemeClr val="tx1"/>
                </a:solidFill>
              </a:rPr>
              <a:t>HTML templates and CSS</a:t>
            </a:r>
            <a:endParaRPr lang="en-US" sz="1500" dirty="0"/>
          </a:p>
        </p:txBody>
      </p:sp>
      <p:sp>
        <p:nvSpPr>
          <p:cNvPr id="7" name="Box Terminal interface"/>
          <p:cNvSpPr/>
          <p:nvPr/>
        </p:nvSpPr>
        <p:spPr>
          <a:xfrm>
            <a:off x="7269480" y="1371600"/>
            <a:ext cx="4370832" cy="914400"/>
          </a:xfrm>
          <a:prstGeom prst="roundRect">
            <a:avLst>
              <a:gd name="adj" fmla="val 8000"/>
            </a:avLst>
          </a:prstGeom>
          <a:solidFill>
            <a:schemeClr val="bg2"/>
          </a:solidFill>
          <a:ln/>
        </p:spPr>
        <p:txBody>
          <a:bodyPr/>
          <a:lstStyle/>
          <a:p>
            <a:endParaRPr lang="en-US"/>
          </a:p>
        </p:txBody>
      </p:sp>
      <p:sp>
        <p:nvSpPr>
          <p:cNvPr id="8" name="Text 5"/>
          <p:cNvSpPr txBox="1"/>
          <p:nvPr/>
        </p:nvSpPr>
        <p:spPr>
          <a:xfrm>
            <a:off x="7360920" y="1371600"/>
            <a:ext cx="4187952" cy="914400"/>
          </a:xfrm>
          <a:prstGeom prst="rect">
            <a:avLst/>
          </a:prstGeom>
          <a:noFill/>
          <a:ln/>
        </p:spPr>
        <p:txBody>
          <a:bodyPr wrap="square" lIns="0" tIns="0" rIns="0" bIns="0" rtlCol="0" anchor="ctr"/>
          <a:lstStyle/>
          <a:p>
            <a:pPr marL="0" indent="0" algn="ctr">
              <a:buNone/>
            </a:pPr>
            <a:r>
              <a:rPr lang="en-US" sz="1500" b="1" dirty="0">
                <a:solidFill>
                  <a:schemeClr val="tx2"/>
                </a:solidFill>
              </a:rPr>
              <a:t>Terminal interface</a:t>
            </a:r>
            <a:endParaRPr lang="en-US" sz="1500" dirty="0"/>
          </a:p>
          <a:p>
            <a:pPr marL="0" indent="0" algn="ctr">
              <a:buNone/>
            </a:pPr>
            <a:r>
              <a:rPr lang="en-US" sz="1500" dirty="0">
                <a:solidFill>
                  <a:schemeClr val="tx1"/>
                </a:solidFill>
              </a:rPr>
              <a:t>Menu in cli.py</a:t>
            </a:r>
            <a:endParaRPr lang="en-US" sz="1500" dirty="0"/>
          </a:p>
        </p:txBody>
      </p:sp>
      <p:sp>
        <p:nvSpPr>
          <p:cNvPr id="9" name="Shape 6"/>
          <p:cNvSpPr/>
          <p:nvPr/>
        </p:nvSpPr>
        <p:spPr>
          <a:xfrm>
            <a:off x="7168896" y="2286000"/>
            <a:ext cx="0" cy="274320"/>
          </a:xfrm>
          <a:prstGeom prst="line">
            <a:avLst/>
          </a:prstGeom>
          <a:noFill/>
          <a:ln w="19050">
            <a:solidFill>
              <a:srgbClr val="5B6B7C"/>
            </a:solidFill>
            <a:prstDash val="solid"/>
            <a:headEnd type="triangle"/>
            <a:tailEnd type="triangle"/>
          </a:ln>
        </p:spPr>
        <p:txBody>
          <a:bodyPr/>
          <a:lstStyle/>
          <a:p>
            <a:endParaRPr lang="en-US"/>
          </a:p>
        </p:txBody>
      </p:sp>
      <p:sp>
        <p:nvSpPr>
          <p:cNvPr id="10" name="Layer label Application layer"/>
          <p:cNvSpPr/>
          <p:nvPr/>
        </p:nvSpPr>
        <p:spPr>
          <a:xfrm>
            <a:off x="548640" y="2560320"/>
            <a:ext cx="1920240"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700" b="1" dirty="0">
                <a:solidFill>
                  <a:schemeClr val="bg1"/>
                </a:solidFill>
              </a:rPr>
              <a:t>Application layer</a:t>
            </a:r>
            <a:endParaRPr lang="en-US" sz="1700" dirty="0"/>
          </a:p>
        </p:txBody>
      </p:sp>
      <p:sp>
        <p:nvSpPr>
          <p:cNvPr id="11" name="Box Flask routes (app.py)"/>
          <p:cNvSpPr/>
          <p:nvPr/>
        </p:nvSpPr>
        <p:spPr>
          <a:xfrm>
            <a:off x="2697480" y="2560320"/>
            <a:ext cx="4370832" cy="914400"/>
          </a:xfrm>
          <a:prstGeom prst="roundRect">
            <a:avLst>
              <a:gd name="adj" fmla="val 8000"/>
            </a:avLst>
          </a:prstGeom>
          <a:solidFill>
            <a:schemeClr val="bg2"/>
          </a:solidFill>
          <a:ln/>
        </p:spPr>
        <p:txBody>
          <a:bodyPr/>
          <a:lstStyle/>
          <a:p>
            <a:endParaRPr lang="en-US"/>
          </a:p>
        </p:txBody>
      </p:sp>
      <p:sp>
        <p:nvSpPr>
          <p:cNvPr id="12" name="Text 9"/>
          <p:cNvSpPr txBox="1"/>
          <p:nvPr/>
        </p:nvSpPr>
        <p:spPr>
          <a:xfrm>
            <a:off x="2788920" y="2560320"/>
            <a:ext cx="4187952" cy="914400"/>
          </a:xfrm>
          <a:prstGeom prst="rect">
            <a:avLst/>
          </a:prstGeom>
          <a:noFill/>
          <a:ln/>
        </p:spPr>
        <p:txBody>
          <a:bodyPr wrap="square" lIns="0" tIns="0" rIns="0" bIns="0" rtlCol="0" anchor="ctr"/>
          <a:lstStyle/>
          <a:p>
            <a:pPr marL="0" indent="0" algn="ctr">
              <a:buNone/>
            </a:pPr>
            <a:r>
              <a:rPr lang="en-US" sz="1500" b="1" dirty="0">
                <a:solidFill>
                  <a:schemeClr val="tx2"/>
                </a:solidFill>
              </a:rPr>
              <a:t>Flask routes (app.py)</a:t>
            </a:r>
            <a:endParaRPr lang="en-US" sz="1500" dirty="0"/>
          </a:p>
          <a:p>
            <a:pPr marL="0" indent="0" algn="ctr">
              <a:buNone/>
            </a:pPr>
            <a:r>
              <a:rPr lang="en-US" sz="1500" dirty="0">
                <a:solidFill>
                  <a:schemeClr val="tx1"/>
                </a:solidFill>
              </a:rPr>
              <a:t>Sign in, dashboard, expenses, charts</a:t>
            </a:r>
            <a:endParaRPr lang="en-US" sz="1500" dirty="0"/>
          </a:p>
        </p:txBody>
      </p:sp>
      <p:sp>
        <p:nvSpPr>
          <p:cNvPr id="13" name="Box Request guard"/>
          <p:cNvSpPr/>
          <p:nvPr/>
        </p:nvSpPr>
        <p:spPr>
          <a:xfrm>
            <a:off x="7269480" y="2560320"/>
            <a:ext cx="4370832" cy="914400"/>
          </a:xfrm>
          <a:prstGeom prst="roundRect">
            <a:avLst>
              <a:gd name="adj" fmla="val 8000"/>
            </a:avLst>
          </a:prstGeom>
          <a:solidFill>
            <a:schemeClr val="bg2"/>
          </a:solidFill>
          <a:ln/>
        </p:spPr>
        <p:txBody>
          <a:bodyPr/>
          <a:lstStyle/>
          <a:p>
            <a:endParaRPr lang="en-US"/>
          </a:p>
        </p:txBody>
      </p:sp>
      <p:sp>
        <p:nvSpPr>
          <p:cNvPr id="14" name="Text 11"/>
          <p:cNvSpPr txBox="1"/>
          <p:nvPr/>
        </p:nvSpPr>
        <p:spPr>
          <a:xfrm>
            <a:off x="7360920" y="2560320"/>
            <a:ext cx="4187952" cy="914400"/>
          </a:xfrm>
          <a:prstGeom prst="rect">
            <a:avLst/>
          </a:prstGeom>
          <a:noFill/>
          <a:ln/>
        </p:spPr>
        <p:txBody>
          <a:bodyPr wrap="square" lIns="0" tIns="0" rIns="0" bIns="0" rtlCol="0" anchor="ctr"/>
          <a:lstStyle/>
          <a:p>
            <a:pPr marL="0" indent="0" algn="ctr">
              <a:buNone/>
            </a:pPr>
            <a:r>
              <a:rPr lang="en-US" sz="1500" b="1" dirty="0">
                <a:solidFill>
                  <a:schemeClr val="tx2"/>
                </a:solidFill>
              </a:rPr>
              <a:t>Request guard</a:t>
            </a:r>
            <a:endParaRPr lang="en-US" sz="1500" dirty="0"/>
          </a:p>
          <a:p>
            <a:pPr marL="0" indent="0" algn="ctr">
              <a:buNone/>
            </a:pPr>
            <a:r>
              <a:rPr lang="en-US" sz="1500" dirty="0">
                <a:solidFill>
                  <a:schemeClr val="tx1"/>
                </a:solidFill>
              </a:rPr>
              <a:t>Session, CSRF, login required</a:t>
            </a:r>
            <a:endParaRPr lang="en-US" sz="1500" dirty="0"/>
          </a:p>
        </p:txBody>
      </p:sp>
      <p:sp>
        <p:nvSpPr>
          <p:cNvPr id="15" name="Shape 12"/>
          <p:cNvSpPr/>
          <p:nvPr/>
        </p:nvSpPr>
        <p:spPr>
          <a:xfrm>
            <a:off x="7168896" y="3474720"/>
            <a:ext cx="0" cy="274320"/>
          </a:xfrm>
          <a:prstGeom prst="line">
            <a:avLst/>
          </a:prstGeom>
          <a:noFill/>
          <a:ln w="19050">
            <a:solidFill>
              <a:srgbClr val="5B6B7C"/>
            </a:solidFill>
            <a:prstDash val="solid"/>
            <a:headEnd type="triangle"/>
            <a:tailEnd type="triangle"/>
          </a:ln>
        </p:spPr>
        <p:txBody>
          <a:bodyPr/>
          <a:lstStyle/>
          <a:p>
            <a:endParaRPr lang="en-US"/>
          </a:p>
        </p:txBody>
      </p:sp>
      <p:sp>
        <p:nvSpPr>
          <p:cNvPr id="16" name="Layer label Logic layer"/>
          <p:cNvSpPr/>
          <p:nvPr/>
        </p:nvSpPr>
        <p:spPr>
          <a:xfrm>
            <a:off x="548640" y="3749040"/>
            <a:ext cx="1920240"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700" b="1" dirty="0">
                <a:solidFill>
                  <a:schemeClr val="bg1"/>
                </a:solidFill>
              </a:rPr>
              <a:t>Logic layer</a:t>
            </a:r>
            <a:endParaRPr lang="en-US" sz="1700" dirty="0"/>
          </a:p>
        </p:txBody>
      </p:sp>
      <p:sp>
        <p:nvSpPr>
          <p:cNvPr id="17" name="Box validators.py"/>
          <p:cNvSpPr/>
          <p:nvPr/>
        </p:nvSpPr>
        <p:spPr>
          <a:xfrm>
            <a:off x="2697480" y="3749040"/>
            <a:ext cx="2084832" cy="914400"/>
          </a:xfrm>
          <a:prstGeom prst="roundRect">
            <a:avLst>
              <a:gd name="adj" fmla="val 8000"/>
            </a:avLst>
          </a:prstGeom>
          <a:solidFill>
            <a:schemeClr val="bg2"/>
          </a:solidFill>
          <a:ln/>
        </p:spPr>
        <p:txBody>
          <a:bodyPr/>
          <a:lstStyle/>
          <a:p>
            <a:endParaRPr lang="en-US"/>
          </a:p>
        </p:txBody>
      </p:sp>
      <p:sp>
        <p:nvSpPr>
          <p:cNvPr id="18" name="Text 15"/>
          <p:cNvSpPr txBox="1"/>
          <p:nvPr/>
        </p:nvSpPr>
        <p:spPr>
          <a:xfrm>
            <a:off x="2788920" y="3749040"/>
            <a:ext cx="1901952" cy="914400"/>
          </a:xfrm>
          <a:prstGeom prst="rect">
            <a:avLst/>
          </a:prstGeom>
          <a:noFill/>
          <a:ln/>
        </p:spPr>
        <p:txBody>
          <a:bodyPr wrap="square" lIns="0" tIns="0" rIns="0" bIns="0" rtlCol="0" anchor="ctr"/>
          <a:lstStyle/>
          <a:p>
            <a:pPr marL="0" indent="0" algn="ctr">
              <a:buNone/>
            </a:pPr>
            <a:r>
              <a:rPr lang="en-US" sz="1500" b="1" dirty="0">
                <a:solidFill>
                  <a:schemeClr val="tx2"/>
                </a:solidFill>
              </a:rPr>
              <a:t>validators.py</a:t>
            </a:r>
            <a:endParaRPr lang="en-US" sz="1500" dirty="0"/>
          </a:p>
          <a:p>
            <a:pPr marL="0" indent="0" algn="ctr">
              <a:buNone/>
            </a:pPr>
            <a:r>
              <a:rPr lang="en-US" sz="1500" dirty="0">
                <a:solidFill>
                  <a:schemeClr val="tx1"/>
                </a:solidFill>
              </a:rPr>
              <a:t>Input checks</a:t>
            </a:r>
            <a:endParaRPr lang="en-US" sz="1500" dirty="0"/>
          </a:p>
        </p:txBody>
      </p:sp>
      <p:sp>
        <p:nvSpPr>
          <p:cNvPr id="19" name="Box analysis.py"/>
          <p:cNvSpPr/>
          <p:nvPr/>
        </p:nvSpPr>
        <p:spPr>
          <a:xfrm>
            <a:off x="4983480" y="3749040"/>
            <a:ext cx="2084832" cy="914400"/>
          </a:xfrm>
          <a:prstGeom prst="roundRect">
            <a:avLst>
              <a:gd name="adj" fmla="val 8000"/>
            </a:avLst>
          </a:prstGeom>
          <a:solidFill>
            <a:schemeClr val="bg2"/>
          </a:solidFill>
          <a:ln/>
        </p:spPr>
        <p:txBody>
          <a:bodyPr/>
          <a:lstStyle/>
          <a:p>
            <a:endParaRPr lang="en-US"/>
          </a:p>
        </p:txBody>
      </p:sp>
      <p:sp>
        <p:nvSpPr>
          <p:cNvPr id="20" name="Text 17"/>
          <p:cNvSpPr txBox="1"/>
          <p:nvPr/>
        </p:nvSpPr>
        <p:spPr>
          <a:xfrm>
            <a:off x="5074920" y="3749040"/>
            <a:ext cx="1901952" cy="914400"/>
          </a:xfrm>
          <a:prstGeom prst="rect">
            <a:avLst/>
          </a:prstGeom>
          <a:noFill/>
          <a:ln/>
        </p:spPr>
        <p:txBody>
          <a:bodyPr wrap="square" lIns="0" tIns="0" rIns="0" bIns="0" rtlCol="0" anchor="ctr"/>
          <a:lstStyle/>
          <a:p>
            <a:pPr marL="0" indent="0" algn="ctr">
              <a:buNone/>
            </a:pPr>
            <a:r>
              <a:rPr lang="en-US" sz="1500" b="1" dirty="0">
                <a:solidFill>
                  <a:schemeClr val="tx2"/>
                </a:solidFill>
              </a:rPr>
              <a:t>analysis.py</a:t>
            </a:r>
            <a:endParaRPr lang="en-US" sz="1500" dirty="0"/>
          </a:p>
          <a:p>
            <a:pPr marL="0" indent="0" algn="ctr">
              <a:buNone/>
            </a:pPr>
            <a:r>
              <a:rPr lang="en-US" sz="1500" dirty="0">
                <a:solidFill>
                  <a:schemeClr val="tx1"/>
                </a:solidFill>
              </a:rPr>
              <a:t>Pandas calculations</a:t>
            </a:r>
            <a:endParaRPr lang="en-US" sz="1500" dirty="0"/>
          </a:p>
        </p:txBody>
      </p:sp>
      <p:sp>
        <p:nvSpPr>
          <p:cNvPr id="21" name="Box report.py"/>
          <p:cNvSpPr/>
          <p:nvPr/>
        </p:nvSpPr>
        <p:spPr>
          <a:xfrm>
            <a:off x="7269480" y="3749040"/>
            <a:ext cx="2084832" cy="914400"/>
          </a:xfrm>
          <a:prstGeom prst="roundRect">
            <a:avLst>
              <a:gd name="adj" fmla="val 8000"/>
            </a:avLst>
          </a:prstGeom>
          <a:solidFill>
            <a:schemeClr val="bg2"/>
          </a:solidFill>
          <a:ln/>
        </p:spPr>
        <p:txBody>
          <a:bodyPr/>
          <a:lstStyle/>
          <a:p>
            <a:endParaRPr lang="en-US"/>
          </a:p>
        </p:txBody>
      </p:sp>
      <p:sp>
        <p:nvSpPr>
          <p:cNvPr id="22" name="Text 19"/>
          <p:cNvSpPr txBox="1"/>
          <p:nvPr/>
        </p:nvSpPr>
        <p:spPr>
          <a:xfrm>
            <a:off x="7360920" y="3749040"/>
            <a:ext cx="1901952" cy="914400"/>
          </a:xfrm>
          <a:prstGeom prst="rect">
            <a:avLst/>
          </a:prstGeom>
          <a:noFill/>
          <a:ln/>
        </p:spPr>
        <p:txBody>
          <a:bodyPr wrap="square" lIns="0" tIns="0" rIns="0" bIns="0" rtlCol="0" anchor="ctr"/>
          <a:lstStyle/>
          <a:p>
            <a:pPr marL="0" indent="0" algn="ctr">
              <a:buNone/>
            </a:pPr>
            <a:r>
              <a:rPr lang="en-US" sz="1500" b="1" dirty="0">
                <a:solidFill>
                  <a:schemeClr val="tx2"/>
                </a:solidFill>
              </a:rPr>
              <a:t>report.py</a:t>
            </a:r>
            <a:endParaRPr lang="en-US" sz="1500" dirty="0"/>
          </a:p>
          <a:p>
            <a:pPr marL="0" indent="0" algn="ctr">
              <a:buNone/>
            </a:pPr>
            <a:r>
              <a:rPr lang="en-US" sz="1500" dirty="0">
                <a:solidFill>
                  <a:schemeClr val="tx1"/>
                </a:solidFill>
              </a:rPr>
              <a:t>Text reports</a:t>
            </a:r>
            <a:endParaRPr lang="en-US" sz="1500" dirty="0"/>
          </a:p>
        </p:txBody>
      </p:sp>
      <p:sp>
        <p:nvSpPr>
          <p:cNvPr id="23" name="Box charts.py"/>
          <p:cNvSpPr/>
          <p:nvPr/>
        </p:nvSpPr>
        <p:spPr>
          <a:xfrm>
            <a:off x="9555480" y="3749040"/>
            <a:ext cx="2084832" cy="914400"/>
          </a:xfrm>
          <a:prstGeom prst="roundRect">
            <a:avLst>
              <a:gd name="adj" fmla="val 8000"/>
            </a:avLst>
          </a:prstGeom>
          <a:solidFill>
            <a:schemeClr val="bg2"/>
          </a:solidFill>
          <a:ln/>
        </p:spPr>
        <p:txBody>
          <a:bodyPr/>
          <a:lstStyle/>
          <a:p>
            <a:endParaRPr lang="en-US"/>
          </a:p>
        </p:txBody>
      </p:sp>
      <p:sp>
        <p:nvSpPr>
          <p:cNvPr id="24" name="Text 21"/>
          <p:cNvSpPr txBox="1"/>
          <p:nvPr/>
        </p:nvSpPr>
        <p:spPr>
          <a:xfrm>
            <a:off x="9646920" y="3749040"/>
            <a:ext cx="1901952" cy="914400"/>
          </a:xfrm>
          <a:prstGeom prst="rect">
            <a:avLst/>
          </a:prstGeom>
          <a:noFill/>
          <a:ln/>
        </p:spPr>
        <p:txBody>
          <a:bodyPr wrap="square" lIns="0" tIns="0" rIns="0" bIns="0" rtlCol="0" anchor="ctr"/>
          <a:lstStyle/>
          <a:p>
            <a:pPr marL="0" indent="0" algn="ctr">
              <a:buNone/>
            </a:pPr>
            <a:r>
              <a:rPr lang="en-US" sz="1500" b="1" dirty="0">
                <a:solidFill>
                  <a:schemeClr val="tx2"/>
                </a:solidFill>
              </a:rPr>
              <a:t>charts.py</a:t>
            </a:r>
            <a:endParaRPr lang="en-US" sz="1500" dirty="0"/>
          </a:p>
          <a:p>
            <a:pPr marL="0" indent="0" algn="ctr">
              <a:buNone/>
            </a:pPr>
            <a:r>
              <a:rPr lang="en-US" sz="1500" dirty="0">
                <a:solidFill>
                  <a:schemeClr val="tx1"/>
                </a:solidFill>
              </a:rPr>
              <a:t>Matplotlib charts</a:t>
            </a:r>
            <a:endParaRPr lang="en-US" sz="1500" dirty="0"/>
          </a:p>
        </p:txBody>
      </p:sp>
      <p:sp>
        <p:nvSpPr>
          <p:cNvPr id="25" name="Shape 22"/>
          <p:cNvSpPr/>
          <p:nvPr/>
        </p:nvSpPr>
        <p:spPr>
          <a:xfrm>
            <a:off x="7168896" y="4663440"/>
            <a:ext cx="0" cy="274320"/>
          </a:xfrm>
          <a:prstGeom prst="line">
            <a:avLst/>
          </a:prstGeom>
          <a:noFill/>
          <a:ln w="19050">
            <a:solidFill>
              <a:srgbClr val="5B6B7C"/>
            </a:solidFill>
            <a:prstDash val="solid"/>
            <a:headEnd type="triangle"/>
            <a:tailEnd type="triangle"/>
          </a:ln>
        </p:spPr>
        <p:txBody>
          <a:bodyPr/>
          <a:lstStyle/>
          <a:p>
            <a:endParaRPr lang="en-US"/>
          </a:p>
        </p:txBody>
      </p:sp>
      <p:sp>
        <p:nvSpPr>
          <p:cNvPr id="26" name="Layer label Data layer"/>
          <p:cNvSpPr/>
          <p:nvPr/>
        </p:nvSpPr>
        <p:spPr>
          <a:xfrm>
            <a:off x="548640" y="4937760"/>
            <a:ext cx="1920240"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700" b="1" dirty="0">
                <a:solidFill>
                  <a:schemeClr val="bg1"/>
                </a:solidFill>
              </a:rPr>
              <a:t>Data layer</a:t>
            </a:r>
            <a:endParaRPr lang="en-US" sz="1700" dirty="0"/>
          </a:p>
        </p:txBody>
      </p:sp>
      <p:sp>
        <p:nvSpPr>
          <p:cNvPr id="27" name="Box users.db (SQLite)"/>
          <p:cNvSpPr/>
          <p:nvPr/>
        </p:nvSpPr>
        <p:spPr>
          <a:xfrm>
            <a:off x="2697480" y="4937760"/>
            <a:ext cx="2846832" cy="914400"/>
          </a:xfrm>
          <a:prstGeom prst="roundRect">
            <a:avLst>
              <a:gd name="adj" fmla="val 8000"/>
            </a:avLst>
          </a:prstGeom>
          <a:solidFill>
            <a:schemeClr val="bg2"/>
          </a:solidFill>
          <a:ln/>
        </p:spPr>
        <p:txBody>
          <a:bodyPr/>
          <a:lstStyle/>
          <a:p>
            <a:endParaRPr lang="en-US"/>
          </a:p>
        </p:txBody>
      </p:sp>
      <p:sp>
        <p:nvSpPr>
          <p:cNvPr id="28" name="Text 25"/>
          <p:cNvSpPr txBox="1"/>
          <p:nvPr/>
        </p:nvSpPr>
        <p:spPr>
          <a:xfrm>
            <a:off x="2788920" y="4937760"/>
            <a:ext cx="2663952" cy="914400"/>
          </a:xfrm>
          <a:prstGeom prst="rect">
            <a:avLst/>
          </a:prstGeom>
          <a:noFill/>
          <a:ln/>
        </p:spPr>
        <p:txBody>
          <a:bodyPr wrap="square" lIns="0" tIns="0" rIns="0" bIns="0" rtlCol="0" anchor="ctr"/>
          <a:lstStyle/>
          <a:p>
            <a:pPr marL="0" indent="0" algn="ctr">
              <a:buNone/>
            </a:pPr>
            <a:r>
              <a:rPr lang="en-US" sz="1500" b="1" dirty="0">
                <a:solidFill>
                  <a:schemeClr val="tx2"/>
                </a:solidFill>
              </a:rPr>
              <a:t>users.db (SQLite)</a:t>
            </a:r>
            <a:endParaRPr lang="en-US" sz="1500" dirty="0"/>
          </a:p>
          <a:p>
            <a:pPr marL="0" indent="0" algn="ctr">
              <a:buNone/>
            </a:pPr>
            <a:r>
              <a:rPr lang="en-US" sz="1500" dirty="0">
                <a:solidFill>
                  <a:schemeClr val="tx1"/>
                </a:solidFill>
              </a:rPr>
              <a:t>Accounts, hashed passwords</a:t>
            </a:r>
            <a:endParaRPr lang="en-US" sz="1500" dirty="0"/>
          </a:p>
        </p:txBody>
      </p:sp>
      <p:sp>
        <p:nvSpPr>
          <p:cNvPr id="29" name="Box user_N.csv files"/>
          <p:cNvSpPr/>
          <p:nvPr/>
        </p:nvSpPr>
        <p:spPr>
          <a:xfrm>
            <a:off x="5745480" y="4937760"/>
            <a:ext cx="2846832" cy="914400"/>
          </a:xfrm>
          <a:prstGeom prst="roundRect">
            <a:avLst>
              <a:gd name="adj" fmla="val 8000"/>
            </a:avLst>
          </a:prstGeom>
          <a:solidFill>
            <a:schemeClr val="bg2"/>
          </a:solidFill>
          <a:ln/>
        </p:spPr>
        <p:txBody>
          <a:bodyPr/>
          <a:lstStyle/>
          <a:p>
            <a:endParaRPr lang="en-US"/>
          </a:p>
        </p:txBody>
      </p:sp>
      <p:sp>
        <p:nvSpPr>
          <p:cNvPr id="30" name="Text 27"/>
          <p:cNvSpPr txBox="1"/>
          <p:nvPr/>
        </p:nvSpPr>
        <p:spPr>
          <a:xfrm>
            <a:off x="5836920" y="4937760"/>
            <a:ext cx="2663952" cy="914400"/>
          </a:xfrm>
          <a:prstGeom prst="rect">
            <a:avLst/>
          </a:prstGeom>
          <a:noFill/>
          <a:ln/>
        </p:spPr>
        <p:txBody>
          <a:bodyPr wrap="square" lIns="0" tIns="0" rIns="0" bIns="0" rtlCol="0" anchor="ctr"/>
          <a:lstStyle/>
          <a:p>
            <a:pPr marL="0" indent="0" algn="ctr">
              <a:buNone/>
            </a:pPr>
            <a:r>
              <a:rPr lang="en-US" sz="1500" b="1" dirty="0">
                <a:solidFill>
                  <a:schemeClr val="tx2"/>
                </a:solidFill>
              </a:rPr>
              <a:t>user_N.csv files</a:t>
            </a:r>
            <a:endParaRPr lang="en-US" sz="1500" dirty="0"/>
          </a:p>
          <a:p>
            <a:pPr marL="0" indent="0" algn="ctr">
              <a:buNone/>
            </a:pPr>
            <a:r>
              <a:rPr lang="en-US" sz="1500" dirty="0">
                <a:solidFill>
                  <a:schemeClr val="tx1"/>
                </a:solidFill>
              </a:rPr>
              <a:t>One expense file per user</a:t>
            </a:r>
            <a:endParaRPr lang="en-US" sz="1500" dirty="0"/>
          </a:p>
        </p:txBody>
      </p:sp>
      <p:sp>
        <p:nvSpPr>
          <p:cNvPr id="31" name="Box reports folder"/>
          <p:cNvSpPr/>
          <p:nvPr/>
        </p:nvSpPr>
        <p:spPr>
          <a:xfrm>
            <a:off x="8793480" y="4937760"/>
            <a:ext cx="2846832" cy="914400"/>
          </a:xfrm>
          <a:prstGeom prst="roundRect">
            <a:avLst>
              <a:gd name="adj" fmla="val 8000"/>
            </a:avLst>
          </a:prstGeom>
          <a:solidFill>
            <a:schemeClr val="bg2"/>
          </a:solidFill>
          <a:ln/>
        </p:spPr>
        <p:txBody>
          <a:bodyPr/>
          <a:lstStyle/>
          <a:p>
            <a:endParaRPr lang="en-US"/>
          </a:p>
        </p:txBody>
      </p:sp>
      <p:sp>
        <p:nvSpPr>
          <p:cNvPr id="32" name="Text 29"/>
          <p:cNvSpPr txBox="1"/>
          <p:nvPr/>
        </p:nvSpPr>
        <p:spPr>
          <a:xfrm>
            <a:off x="8884920" y="4937760"/>
            <a:ext cx="2663952" cy="914400"/>
          </a:xfrm>
          <a:prstGeom prst="rect">
            <a:avLst/>
          </a:prstGeom>
          <a:noFill/>
          <a:ln/>
        </p:spPr>
        <p:txBody>
          <a:bodyPr wrap="square" lIns="0" tIns="0" rIns="0" bIns="0" rtlCol="0" anchor="ctr"/>
          <a:lstStyle/>
          <a:p>
            <a:pPr marL="0" indent="0" algn="ctr">
              <a:buNone/>
            </a:pPr>
            <a:r>
              <a:rPr lang="en-US" sz="1500" b="1" dirty="0">
                <a:solidFill>
                  <a:schemeClr val="tx2"/>
                </a:solidFill>
              </a:rPr>
              <a:t>reports folder</a:t>
            </a:r>
            <a:endParaRPr lang="en-US" sz="1500" dirty="0"/>
          </a:p>
          <a:p>
            <a:pPr marL="0" indent="0" algn="ctr">
              <a:buNone/>
            </a:pPr>
            <a:r>
              <a:rPr lang="en-US" sz="1500" dirty="0">
                <a:solidFill>
                  <a:schemeClr val="tx1"/>
                </a:solidFill>
              </a:rPr>
              <a:t>Saved PNG charts</a:t>
            </a:r>
            <a:endParaRPr lang="en-US" sz="15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Internal Structure: Data Flow and Database</a:t>
            </a:r>
            <a:endParaRPr lang="en-US" sz="3400" dirty="0"/>
          </a:p>
        </p:txBody>
      </p:sp>
      <p:sp>
        <p:nvSpPr>
          <p:cNvPr id="4" name="DFD User"/>
          <p:cNvSpPr/>
          <p:nvPr/>
        </p:nvSpPr>
        <p:spPr>
          <a:xfrm>
            <a:off x="548640" y="1371600"/>
            <a:ext cx="1554480" cy="777240"/>
          </a:xfrm>
          <a:prstGeom prst="rect">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User</a:t>
            </a:r>
            <a:endParaRPr lang="en-US" sz="1600" dirty="0"/>
          </a:p>
        </p:txBody>
      </p:sp>
      <p:sp>
        <p:nvSpPr>
          <p:cNvPr id="5" name="Shape 2"/>
          <p:cNvSpPr/>
          <p:nvPr/>
        </p:nvSpPr>
        <p:spPr>
          <a:xfrm>
            <a:off x="2103120" y="1760220"/>
            <a:ext cx="411480" cy="0"/>
          </a:xfrm>
          <a:prstGeom prst="line">
            <a:avLst/>
          </a:prstGeom>
          <a:noFill/>
          <a:ln w="19050">
            <a:solidFill>
              <a:srgbClr val="5B6B7C"/>
            </a:solidFill>
            <a:prstDash val="solid"/>
            <a:tailEnd type="triangle"/>
          </a:ln>
        </p:spPr>
        <p:txBody>
          <a:bodyPr/>
          <a:lstStyle/>
          <a:p>
            <a:endParaRPr lang="en-US"/>
          </a:p>
        </p:txBody>
      </p:sp>
      <p:sp>
        <p:nvSpPr>
          <p:cNvPr id="6" name="DFD 1  Authenticate"/>
          <p:cNvSpPr/>
          <p:nvPr/>
        </p:nvSpPr>
        <p:spPr>
          <a:xfrm>
            <a:off x="2514600" y="1371600"/>
            <a:ext cx="2011680" cy="777240"/>
          </a:xfrm>
          <a:prstGeom prst="roundRect">
            <a:avLst>
              <a:gd name="adj" fmla="val 9412"/>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1  Authenticate</a:t>
            </a:r>
            <a:endParaRPr lang="en-US" sz="1600" dirty="0"/>
          </a:p>
        </p:txBody>
      </p:sp>
      <p:sp>
        <p:nvSpPr>
          <p:cNvPr id="7" name="Shape 4"/>
          <p:cNvSpPr/>
          <p:nvPr/>
        </p:nvSpPr>
        <p:spPr>
          <a:xfrm>
            <a:off x="4526280" y="1760220"/>
            <a:ext cx="411480" cy="0"/>
          </a:xfrm>
          <a:prstGeom prst="line">
            <a:avLst/>
          </a:prstGeom>
          <a:noFill/>
          <a:ln w="19050">
            <a:solidFill>
              <a:srgbClr val="5B6B7C"/>
            </a:solidFill>
            <a:prstDash val="solid"/>
            <a:tailEnd type="triangle"/>
          </a:ln>
        </p:spPr>
        <p:txBody>
          <a:bodyPr/>
          <a:lstStyle/>
          <a:p>
            <a:endParaRPr lang="en-US"/>
          </a:p>
        </p:txBody>
      </p:sp>
      <p:sp>
        <p:nvSpPr>
          <p:cNvPr id="8" name="DFD 2  Validate and store"/>
          <p:cNvSpPr/>
          <p:nvPr/>
        </p:nvSpPr>
        <p:spPr>
          <a:xfrm>
            <a:off x="4937760" y="1371600"/>
            <a:ext cx="2194560" cy="777240"/>
          </a:xfrm>
          <a:prstGeom prst="roundRect">
            <a:avLst>
              <a:gd name="adj" fmla="val 9412"/>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2  Validate and store</a:t>
            </a:r>
            <a:endParaRPr lang="en-US" sz="1600" dirty="0"/>
          </a:p>
        </p:txBody>
      </p:sp>
      <p:sp>
        <p:nvSpPr>
          <p:cNvPr id="9" name="Shape 6"/>
          <p:cNvSpPr/>
          <p:nvPr/>
        </p:nvSpPr>
        <p:spPr>
          <a:xfrm>
            <a:off x="7132320" y="1760220"/>
            <a:ext cx="365760" cy="0"/>
          </a:xfrm>
          <a:prstGeom prst="line">
            <a:avLst/>
          </a:prstGeom>
          <a:noFill/>
          <a:ln w="19050">
            <a:solidFill>
              <a:srgbClr val="5B6B7C"/>
            </a:solidFill>
            <a:prstDash val="solid"/>
            <a:tailEnd type="triangle"/>
          </a:ln>
        </p:spPr>
        <p:txBody>
          <a:bodyPr/>
          <a:lstStyle/>
          <a:p>
            <a:endParaRPr lang="en-US"/>
          </a:p>
        </p:txBody>
      </p:sp>
      <p:sp>
        <p:nvSpPr>
          <p:cNvPr id="10" name="DFD 3  Analyse"/>
          <p:cNvSpPr/>
          <p:nvPr/>
        </p:nvSpPr>
        <p:spPr>
          <a:xfrm>
            <a:off x="7498080" y="1371600"/>
            <a:ext cx="1737360" cy="777240"/>
          </a:xfrm>
          <a:prstGeom prst="roundRect">
            <a:avLst>
              <a:gd name="adj" fmla="val 9412"/>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3  Analyse</a:t>
            </a:r>
            <a:endParaRPr lang="en-US" sz="1600" dirty="0"/>
          </a:p>
        </p:txBody>
      </p:sp>
      <p:sp>
        <p:nvSpPr>
          <p:cNvPr id="11" name="Shape 8"/>
          <p:cNvSpPr/>
          <p:nvPr/>
        </p:nvSpPr>
        <p:spPr>
          <a:xfrm>
            <a:off x="9235440" y="1760220"/>
            <a:ext cx="365760" cy="0"/>
          </a:xfrm>
          <a:prstGeom prst="line">
            <a:avLst/>
          </a:prstGeom>
          <a:noFill/>
          <a:ln w="19050">
            <a:solidFill>
              <a:srgbClr val="5B6B7C"/>
            </a:solidFill>
            <a:prstDash val="solid"/>
            <a:tailEnd type="triangle"/>
          </a:ln>
        </p:spPr>
        <p:txBody>
          <a:bodyPr/>
          <a:lstStyle/>
          <a:p>
            <a:endParaRPr lang="en-US"/>
          </a:p>
        </p:txBody>
      </p:sp>
      <p:sp>
        <p:nvSpPr>
          <p:cNvPr id="12" name="DFD 4  Charts and reports"/>
          <p:cNvSpPr/>
          <p:nvPr/>
        </p:nvSpPr>
        <p:spPr>
          <a:xfrm>
            <a:off x="9601200" y="1371600"/>
            <a:ext cx="2039112" cy="777240"/>
          </a:xfrm>
          <a:prstGeom prst="roundRect">
            <a:avLst>
              <a:gd name="adj" fmla="val 9412"/>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4  Charts and reports</a:t>
            </a:r>
            <a:endParaRPr lang="en-US" sz="1600" dirty="0"/>
          </a:p>
        </p:txBody>
      </p:sp>
      <p:sp>
        <p:nvSpPr>
          <p:cNvPr id="13" name="Data store users"/>
          <p:cNvSpPr/>
          <p:nvPr/>
        </p:nvSpPr>
        <p:spPr>
          <a:xfrm>
            <a:off x="2514600" y="2697480"/>
            <a:ext cx="2011680" cy="594360"/>
          </a:xfrm>
          <a:prstGeom prst="rect">
            <a:avLst/>
          </a:prstGeom>
          <a:solidFill>
            <a:schemeClr val="bg2"/>
          </a:solidFill>
          <a:ln w="15875">
            <a:solidFill>
              <a:srgbClr val="4F7396"/>
            </a:solidFill>
          </a:ln>
        </p:spPr>
        <p:txBody>
          <a:bodyPr wrap="square" lIns="635" tIns="635" rIns="635" bIns="635" rtlCol="0" anchor="ctr"/>
          <a:lstStyle/>
          <a:p>
            <a:pPr marL="0" indent="0" algn="ctr">
              <a:buNone/>
            </a:pPr>
            <a:r>
              <a:rPr lang="en-US" sz="1400" b="1" dirty="0">
                <a:solidFill>
                  <a:schemeClr val="tx2"/>
                </a:solidFill>
              </a:rPr>
              <a:t>D1  users.db</a:t>
            </a:r>
            <a:endParaRPr lang="en-US" sz="1400" dirty="0"/>
          </a:p>
        </p:txBody>
      </p:sp>
      <p:sp>
        <p:nvSpPr>
          <p:cNvPr id="14" name="Data store expenses"/>
          <p:cNvSpPr/>
          <p:nvPr/>
        </p:nvSpPr>
        <p:spPr>
          <a:xfrm>
            <a:off x="4937760" y="2697480"/>
            <a:ext cx="4297680" cy="594360"/>
          </a:xfrm>
          <a:prstGeom prst="rect">
            <a:avLst/>
          </a:prstGeom>
          <a:solidFill>
            <a:schemeClr val="bg2"/>
          </a:solidFill>
          <a:ln w="15875">
            <a:solidFill>
              <a:srgbClr val="4F7396"/>
            </a:solidFill>
          </a:ln>
        </p:spPr>
        <p:txBody>
          <a:bodyPr wrap="square" lIns="635" tIns="635" rIns="635" bIns="635" rtlCol="0" anchor="ctr"/>
          <a:lstStyle/>
          <a:p>
            <a:pPr marL="0" indent="0" algn="ctr">
              <a:buNone/>
            </a:pPr>
            <a:r>
              <a:rPr lang="en-US" sz="1400" b="1" dirty="0">
                <a:solidFill>
                  <a:schemeClr val="tx2"/>
                </a:solidFill>
              </a:rPr>
              <a:t>D2  user_N.csv (expense records)</a:t>
            </a:r>
            <a:endParaRPr lang="en-US" sz="1400" dirty="0"/>
          </a:p>
        </p:txBody>
      </p:sp>
      <p:sp>
        <p:nvSpPr>
          <p:cNvPr id="15" name="Shape 12"/>
          <p:cNvSpPr/>
          <p:nvPr/>
        </p:nvSpPr>
        <p:spPr>
          <a:xfrm>
            <a:off x="3520440" y="2148840"/>
            <a:ext cx="0" cy="548640"/>
          </a:xfrm>
          <a:prstGeom prst="line">
            <a:avLst/>
          </a:prstGeom>
          <a:noFill/>
          <a:ln w="19050">
            <a:solidFill>
              <a:srgbClr val="5B6B7C"/>
            </a:solidFill>
            <a:prstDash val="solid"/>
            <a:headEnd type="triangle"/>
            <a:tailEnd type="triangle"/>
          </a:ln>
        </p:spPr>
        <p:txBody>
          <a:bodyPr/>
          <a:lstStyle/>
          <a:p>
            <a:endParaRPr lang="en-US"/>
          </a:p>
        </p:txBody>
      </p:sp>
      <p:sp>
        <p:nvSpPr>
          <p:cNvPr id="16" name="Shape 13"/>
          <p:cNvSpPr/>
          <p:nvPr/>
        </p:nvSpPr>
        <p:spPr>
          <a:xfrm>
            <a:off x="6035040" y="2148840"/>
            <a:ext cx="0" cy="548640"/>
          </a:xfrm>
          <a:prstGeom prst="line">
            <a:avLst/>
          </a:prstGeom>
          <a:noFill/>
          <a:ln w="19050">
            <a:solidFill>
              <a:srgbClr val="5B6B7C"/>
            </a:solidFill>
            <a:prstDash val="solid"/>
            <a:headEnd type="triangle"/>
            <a:tailEnd type="triangle"/>
          </a:ln>
        </p:spPr>
        <p:txBody>
          <a:bodyPr/>
          <a:lstStyle/>
          <a:p>
            <a:endParaRPr lang="en-US"/>
          </a:p>
        </p:txBody>
      </p:sp>
      <p:sp>
        <p:nvSpPr>
          <p:cNvPr id="17" name="Shape 14"/>
          <p:cNvSpPr/>
          <p:nvPr/>
        </p:nvSpPr>
        <p:spPr>
          <a:xfrm>
            <a:off x="8366760" y="2148840"/>
            <a:ext cx="0" cy="548640"/>
          </a:xfrm>
          <a:prstGeom prst="line">
            <a:avLst/>
          </a:prstGeom>
          <a:noFill/>
          <a:ln w="19050">
            <a:solidFill>
              <a:srgbClr val="5B6B7C"/>
            </a:solidFill>
            <a:prstDash val="solid"/>
            <a:headEnd type="triangle"/>
            <a:tailEnd type="triangle"/>
          </a:ln>
        </p:spPr>
        <p:txBody>
          <a:bodyPr/>
          <a:lstStyle/>
          <a:p>
            <a:endParaRPr lang="en-US"/>
          </a:p>
        </p:txBody>
      </p:sp>
      <p:sp>
        <p:nvSpPr>
          <p:cNvPr id="18" name="Text 15"/>
          <p:cNvSpPr txBox="1"/>
          <p:nvPr/>
        </p:nvSpPr>
        <p:spPr>
          <a:xfrm>
            <a:off x="548640" y="3611880"/>
            <a:ext cx="5120640" cy="320040"/>
          </a:xfrm>
          <a:prstGeom prst="rect">
            <a:avLst/>
          </a:prstGeom>
          <a:noFill/>
          <a:ln/>
        </p:spPr>
        <p:txBody>
          <a:bodyPr wrap="square" lIns="0" tIns="0" rIns="0" bIns="0" rtlCol="0" anchor="t"/>
          <a:lstStyle/>
          <a:p>
            <a:pPr marL="0" indent="0">
              <a:buNone/>
            </a:pPr>
            <a:r>
              <a:rPr lang="en-US" sz="1600" b="1" dirty="0">
                <a:solidFill>
                  <a:schemeClr val="tx2"/>
                </a:solidFill>
              </a:rPr>
              <a:t>users table (SQLite: data/users.db)</a:t>
            </a:r>
            <a:endParaRPr lang="en-US" sz="1600" dirty="0"/>
          </a:p>
        </p:txBody>
      </p:sp>
      <p:sp>
        <p:nvSpPr>
          <p:cNvPr id="19" name="Text 16"/>
          <p:cNvSpPr txBox="1"/>
          <p:nvPr/>
        </p:nvSpPr>
        <p:spPr>
          <a:xfrm>
            <a:off x="6519672" y="3611880"/>
            <a:ext cx="5120640" cy="320040"/>
          </a:xfrm>
          <a:prstGeom prst="rect">
            <a:avLst/>
          </a:prstGeom>
          <a:noFill/>
          <a:ln/>
        </p:spPr>
        <p:txBody>
          <a:bodyPr wrap="square" lIns="0" tIns="0" rIns="0" bIns="0" rtlCol="0" anchor="t"/>
          <a:lstStyle/>
          <a:p>
            <a:pPr marL="0" indent="0">
              <a:buNone/>
            </a:pPr>
            <a:r>
              <a:rPr lang="en-US" sz="1600" b="1" dirty="0">
                <a:solidFill>
                  <a:schemeClr val="tx2"/>
                </a:solidFill>
              </a:rPr>
              <a:t>expense file (CSV: data/users/user_N.csv)</a:t>
            </a:r>
            <a:endParaRPr lang="en-US" sz="1600" dirty="0"/>
          </a:p>
        </p:txBody>
      </p:sp>
      <p:graphicFrame>
        <p:nvGraphicFramePr>
          <p:cNvPr id="3" name="Schema table"/>
          <p:cNvGraphicFramePr>
            <a:graphicFrameLocks noGrp="1"/>
          </p:cNvGraphicFramePr>
          <p:nvPr>
            <p:extLst>
              <p:ext uri="{D42A27DB-BD31-4B8C-83A1-F6EECF244321}">
                <p14:modId xmlns:p14="http://schemas.microsoft.com/office/powerpoint/2010/main" val="1579011935"/>
              </p:ext>
            </p:extLst>
          </p:nvPr>
        </p:nvGraphicFramePr>
        <p:xfrm>
          <a:off x="548640" y="4023360"/>
          <a:ext cx="51206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47472">
                <a:tc>
                  <a:txBody>
                    <a:bodyPr/>
                    <a:lstStyle/>
                    <a:p>
                      <a:pPr marL="0" indent="0">
                        <a:buNone/>
                      </a:pPr>
                      <a:r>
                        <a:rPr lang="en-US" sz="1400" b="1" dirty="0">
                          <a:solidFill>
                            <a:schemeClr val="bg1"/>
                          </a:solidFill>
                        </a:rPr>
                        <a:t>Field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Type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Rule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47472">
                <a:tc>
                  <a:txBody>
                    <a:bodyPr/>
                    <a:lstStyle/>
                    <a:p>
                      <a:pPr marL="0" indent="0">
                        <a:buNone/>
                      </a:pPr>
                      <a:r>
                        <a:rPr lang="en-US" sz="1400" b="1" dirty="0">
                          <a:solidFill>
                            <a:schemeClr val="tx2"/>
                          </a:solidFill>
                        </a:rPr>
                        <a:t>id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INTEGER</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Primary key</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7472">
                <a:tc>
                  <a:txBody>
                    <a:bodyPr/>
                    <a:lstStyle/>
                    <a:p>
                      <a:pPr marL="0" indent="0">
                        <a:buNone/>
                      </a:pPr>
                      <a:r>
                        <a:rPr lang="en-US" sz="1400" b="1" dirty="0">
                          <a:solidFill>
                            <a:schemeClr val="tx2"/>
                          </a:solidFill>
                        </a:rPr>
                        <a:t>name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Required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buNone/>
                      </a:pPr>
                      <a:r>
                        <a:rPr lang="en-US" sz="1400" b="1" dirty="0">
                          <a:solidFill>
                            <a:schemeClr val="tx2"/>
                          </a:solidFill>
                        </a:rPr>
                        <a:t>email</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Unique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7472">
                <a:tc>
                  <a:txBody>
                    <a:bodyPr/>
                    <a:lstStyle/>
                    <a:p>
                      <a:pPr marL="0" indent="0">
                        <a:buNone/>
                      </a:pPr>
                      <a:r>
                        <a:rPr lang="en-US" sz="1400" b="1" dirty="0">
                          <a:solidFill>
                            <a:schemeClr val="tx2"/>
                          </a:solidFill>
                        </a:rPr>
                        <a:t>password_hash</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Salted hash</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buNone/>
                      </a:pPr>
                      <a:r>
                        <a:rPr lang="en-US" sz="1400" b="1" dirty="0">
                          <a:solidFill>
                            <a:schemeClr val="tx2"/>
                          </a:solidFill>
                        </a:rPr>
                        <a:t>created_at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Timestamp</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21" name="Schema table"/>
          <p:cNvGraphicFramePr>
            <a:graphicFrameLocks noGrp="1"/>
          </p:cNvGraphicFramePr>
          <p:nvPr>
            <p:extLst>
              <p:ext uri="{D42A27DB-BD31-4B8C-83A1-F6EECF244321}">
                <p14:modId xmlns:p14="http://schemas.microsoft.com/office/powerpoint/2010/main" val="1579011935"/>
              </p:ext>
            </p:extLst>
          </p:nvPr>
        </p:nvGraphicFramePr>
        <p:xfrm>
          <a:off x="6519672" y="4023360"/>
          <a:ext cx="51206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47472">
                <a:tc>
                  <a:txBody>
                    <a:bodyPr/>
                    <a:lstStyle/>
                    <a:p>
                      <a:pPr marL="0" indent="0">
                        <a:buNone/>
                      </a:pPr>
                      <a:r>
                        <a:rPr lang="en-US" sz="1400" b="1" dirty="0">
                          <a:solidFill>
                            <a:schemeClr val="bg1"/>
                          </a:solidFill>
                        </a:rPr>
                        <a:t>Field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Type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Rule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47472">
                <a:tc>
                  <a:txBody>
                    <a:bodyPr/>
                    <a:lstStyle/>
                    <a:p>
                      <a:pPr marL="0" indent="0">
                        <a:buNone/>
                      </a:pPr>
                      <a:r>
                        <a:rPr lang="en-US" sz="1400" b="1" dirty="0">
                          <a:solidFill>
                            <a:schemeClr val="tx2"/>
                          </a:solidFill>
                        </a:rPr>
                        <a:t>id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integer</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Primary key</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7472">
                <a:tc>
                  <a:txBody>
                    <a:bodyPr/>
                    <a:lstStyle/>
                    <a:p>
                      <a:pPr marL="0" indent="0">
                        <a:buNone/>
                      </a:pPr>
                      <a:r>
                        <a:rPr lang="en-US" sz="1400" b="1" dirty="0">
                          <a:solidFill>
                            <a:schemeClr val="tx2"/>
                          </a:solidFill>
                        </a:rPr>
                        <a:t>date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YYYY-MM-DD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Not in future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buNone/>
                      </a:pPr>
                      <a:r>
                        <a:rPr lang="en-US" sz="1400" b="1" dirty="0">
                          <a:solidFill>
                            <a:schemeClr val="tx2"/>
                          </a:solidFill>
                        </a:rPr>
                        <a:t>category</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One of six</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7472">
                <a:tc>
                  <a:txBody>
                    <a:bodyPr/>
                    <a:lstStyle/>
                    <a:p>
                      <a:pPr marL="0" indent="0">
                        <a:buNone/>
                      </a:pPr>
                      <a:r>
                        <a:rPr lang="en-US" sz="1400" b="1" dirty="0">
                          <a:solidFill>
                            <a:schemeClr val="tx2"/>
                          </a:solidFill>
                        </a:rPr>
                        <a:t>amount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decimal</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Greater than 0</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buNone/>
                      </a:pPr>
                      <a:r>
                        <a:rPr lang="en-US" sz="1400" b="1" dirty="0">
                          <a:solidFill>
                            <a:schemeClr val="tx2"/>
                          </a:solidFill>
                        </a:rPr>
                        <a:t>description</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text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Up to 60 chars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2" name="Shape 17"/>
          <p:cNvSpPr/>
          <p:nvPr/>
        </p:nvSpPr>
        <p:spPr>
          <a:xfrm>
            <a:off x="5669280" y="5029200"/>
            <a:ext cx="850392" cy="0"/>
          </a:xfrm>
          <a:prstGeom prst="line">
            <a:avLst/>
          </a:prstGeom>
          <a:noFill/>
          <a:ln w="19050">
            <a:solidFill>
              <a:srgbClr val="5B6B7C"/>
            </a:solidFill>
            <a:prstDash val="solid"/>
            <a:tailEnd type="triangle"/>
          </a:ln>
        </p:spPr>
        <p:txBody>
          <a:bodyPr/>
          <a:lstStyle/>
          <a:p>
            <a:endParaRPr lang="en-US"/>
          </a:p>
        </p:txBody>
      </p:sp>
      <p:sp>
        <p:nvSpPr>
          <p:cNvPr id="23" name="Text 18"/>
          <p:cNvSpPr txBox="1"/>
          <p:nvPr/>
        </p:nvSpPr>
        <p:spPr>
          <a:xfrm>
            <a:off x="5669280" y="4617720"/>
            <a:ext cx="850392" cy="320040"/>
          </a:xfrm>
          <a:prstGeom prst="rect">
            <a:avLst/>
          </a:prstGeom>
          <a:noFill/>
          <a:ln/>
        </p:spPr>
        <p:txBody>
          <a:bodyPr wrap="square" lIns="0" tIns="0" rIns="0" bIns="0" rtlCol="0" anchor="t"/>
          <a:lstStyle/>
          <a:p>
            <a:pPr marL="0" indent="0" algn="ctr">
              <a:buNone/>
            </a:pPr>
            <a:r>
              <a:rPr lang="en-US" sz="1400" b="1" dirty="0">
                <a:solidFill>
                  <a:schemeClr val="accent2"/>
                </a:solidFill>
              </a:rPr>
              <a:t>1 : 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Implementation: Dashboard and Data Entry</a:t>
            </a:r>
            <a:endParaRPr lang="en-US" sz="3400" dirty="0"/>
          </a:p>
        </p:txBody>
      </p:sp>
      <p:sp>
        <p:nvSpPr>
          <p:cNvPr id="4" name="Dashboard screenshot frame"/>
          <p:cNvSpPr/>
          <p:nvPr/>
        </p:nvSpPr>
        <p:spPr>
          <a:xfrm>
            <a:off x="521208" y="1344168"/>
            <a:ext cx="6678131" cy="4032504"/>
          </a:xfrm>
          <a:prstGeom prst="rect">
            <a:avLst/>
          </a:prstGeom>
          <a:solidFill>
            <a:schemeClr val="bg1"/>
          </a:solidFill>
          <a:ln w="12700">
            <a:solidFill>
              <a:srgbClr val="C8D0D8"/>
            </a:solidFill>
            <a:prstDash val="solid"/>
          </a:ln>
        </p:spPr>
        <p:txBody>
          <a:bodyPr/>
          <a:lstStyle/>
          <a:p>
            <a:endParaRPr lang="en-US"/>
          </a:p>
        </p:txBody>
      </p:sp>
      <p:pic>
        <p:nvPicPr>
          <p:cNvPr id="5" name="Dashboard screenshot" descr="Dashboard screenshot"/>
          <p:cNvPicPr>
            <a:picLocks noChangeAspect="1"/>
          </p:cNvPicPr>
          <p:nvPr/>
        </p:nvPicPr>
        <p:blipFill>
          <a:blip r:embed="rId3"/>
          <a:stretch>
            <a:fillRect/>
          </a:stretch>
        </p:blipFill>
        <p:spPr>
          <a:xfrm>
            <a:off x="548640" y="1371600"/>
            <a:ext cx="6623267" cy="3977640"/>
          </a:xfrm>
          <a:prstGeom prst="rect">
            <a:avLst/>
          </a:prstGeom>
        </p:spPr>
      </p:pic>
      <p:sp>
        <p:nvSpPr>
          <p:cNvPr id="6" name="Add expense form screenshot frame"/>
          <p:cNvSpPr/>
          <p:nvPr/>
        </p:nvSpPr>
        <p:spPr>
          <a:xfrm>
            <a:off x="7601675" y="1344168"/>
            <a:ext cx="4032504" cy="4032504"/>
          </a:xfrm>
          <a:prstGeom prst="rect">
            <a:avLst/>
          </a:prstGeom>
          <a:solidFill>
            <a:schemeClr val="bg1"/>
          </a:solidFill>
          <a:ln w="12700">
            <a:solidFill>
              <a:srgbClr val="C8D0D8"/>
            </a:solidFill>
            <a:prstDash val="solid"/>
          </a:ln>
        </p:spPr>
        <p:txBody>
          <a:bodyPr/>
          <a:lstStyle/>
          <a:p>
            <a:endParaRPr lang="en-US"/>
          </a:p>
        </p:txBody>
      </p:sp>
      <p:pic>
        <p:nvPicPr>
          <p:cNvPr id="7" name="Add expense form screenshot" descr="Add expense form screenshot"/>
          <p:cNvPicPr>
            <a:picLocks noChangeAspect="1"/>
          </p:cNvPicPr>
          <p:nvPr/>
        </p:nvPicPr>
        <p:blipFill>
          <a:blip r:embed="rId4"/>
          <a:stretch>
            <a:fillRect/>
          </a:stretch>
        </p:blipFill>
        <p:spPr>
          <a:xfrm>
            <a:off x="7629107" y="1371600"/>
            <a:ext cx="3977640" cy="3977640"/>
          </a:xfrm>
          <a:prstGeom prst="rect">
            <a:avLst/>
          </a:prstGeom>
        </p:spPr>
      </p:pic>
      <p:sp>
        <p:nvSpPr>
          <p:cNvPr id="8" name="Text 3"/>
          <p:cNvSpPr txBox="1"/>
          <p:nvPr/>
        </p:nvSpPr>
        <p:spPr>
          <a:xfrm>
            <a:off x="548640" y="5532120"/>
            <a:ext cx="6623267" cy="777240"/>
          </a:xfrm>
          <a:prstGeom prst="rect">
            <a:avLst/>
          </a:prstGeom>
          <a:noFill/>
          <a:ln/>
        </p:spPr>
        <p:txBody>
          <a:bodyPr wrap="square" lIns="0" tIns="0" rIns="0" bIns="0" rtlCol="0" anchor="t"/>
          <a:lstStyle/>
          <a:p>
            <a:pPr marL="0" indent="0">
              <a:buNone/>
            </a:pPr>
            <a:r>
              <a:rPr lang="en-US" sz="1600" b="1" dirty="0">
                <a:solidFill>
                  <a:schemeClr val="tx2"/>
                </a:solidFill>
              </a:rPr>
              <a:t>Dashboard: </a:t>
            </a:r>
            <a:r>
              <a:rPr lang="en-US" sz="1600" dirty="0">
                <a:solidFill>
                  <a:schemeClr val="tx1"/>
                </a:solidFill>
              </a:rPr>
              <a:t>summary cards, searchable and sortable transaction list, and category breakdown with monthly totals.</a:t>
            </a:r>
            <a:endParaRPr lang="en-US" sz="1600" dirty="0"/>
          </a:p>
        </p:txBody>
      </p:sp>
      <p:sp>
        <p:nvSpPr>
          <p:cNvPr id="9" name="Text 4"/>
          <p:cNvSpPr txBox="1"/>
          <p:nvPr/>
        </p:nvSpPr>
        <p:spPr>
          <a:xfrm>
            <a:off x="7629107" y="5532120"/>
            <a:ext cx="4011205" cy="777240"/>
          </a:xfrm>
          <a:prstGeom prst="rect">
            <a:avLst/>
          </a:prstGeom>
          <a:noFill/>
          <a:ln/>
        </p:spPr>
        <p:txBody>
          <a:bodyPr wrap="square" lIns="0" tIns="0" rIns="0" bIns="0" rtlCol="0" anchor="t"/>
          <a:lstStyle/>
          <a:p>
            <a:pPr marL="0" indent="0">
              <a:buNone/>
            </a:pPr>
            <a:r>
              <a:rPr lang="en-US" sz="1600" b="1" dirty="0">
                <a:solidFill>
                  <a:schemeClr val="tx2"/>
                </a:solidFill>
              </a:rPr>
              <a:t>Add Expense: </a:t>
            </a:r>
            <a:r>
              <a:rPr lang="en-US" sz="1600" dirty="0">
                <a:solidFill>
                  <a:schemeClr val="tx1"/>
                </a:solidFill>
              </a:rPr>
              <a:t>date, category, amount and description.</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Implementation: Category Charts</a:t>
            </a:r>
            <a:endParaRPr lang="en-US" sz="3400" dirty="0"/>
          </a:p>
        </p:txBody>
      </p:sp>
      <p:sp>
        <p:nvSpPr>
          <p:cNvPr id="4" name="Bar chart and pie chart screenshot frame"/>
          <p:cNvSpPr/>
          <p:nvPr/>
        </p:nvSpPr>
        <p:spPr>
          <a:xfrm>
            <a:off x="521208" y="1344168"/>
            <a:ext cx="7734434" cy="4215384"/>
          </a:xfrm>
          <a:prstGeom prst="rect">
            <a:avLst/>
          </a:prstGeom>
          <a:solidFill>
            <a:schemeClr val="bg1"/>
          </a:solidFill>
          <a:ln w="12700">
            <a:solidFill>
              <a:srgbClr val="C8D0D8"/>
            </a:solidFill>
            <a:prstDash val="solid"/>
          </a:ln>
        </p:spPr>
        <p:txBody>
          <a:bodyPr/>
          <a:lstStyle/>
          <a:p>
            <a:endParaRPr lang="en-US"/>
          </a:p>
        </p:txBody>
      </p:sp>
      <p:pic>
        <p:nvPicPr>
          <p:cNvPr id="5" name="Bar chart and pie chart screenshot" descr="Bar chart and pie chart screenshot"/>
          <p:cNvPicPr>
            <a:picLocks noChangeAspect="1"/>
          </p:cNvPicPr>
          <p:nvPr/>
        </p:nvPicPr>
        <p:blipFill>
          <a:blip r:embed="rId3"/>
          <a:stretch>
            <a:fillRect/>
          </a:stretch>
        </p:blipFill>
        <p:spPr>
          <a:xfrm>
            <a:off x="548640" y="1371600"/>
            <a:ext cx="7679570" cy="4160520"/>
          </a:xfrm>
          <a:prstGeom prst="rect">
            <a:avLst/>
          </a:prstGeom>
        </p:spPr>
      </p:pic>
      <p:sp>
        <p:nvSpPr>
          <p:cNvPr id="6" name="Text 2"/>
          <p:cNvSpPr txBox="1"/>
          <p:nvPr/>
        </p:nvSpPr>
        <p:spPr>
          <a:xfrm>
            <a:off x="8685410" y="1371600"/>
            <a:ext cx="2954902" cy="4206240"/>
          </a:xfrm>
          <a:prstGeom prst="rect">
            <a:avLst/>
          </a:prstGeom>
          <a:noFill/>
          <a:ln/>
        </p:spPr>
        <p:txBody>
          <a:bodyPr wrap="square" lIns="0" tIns="0" rIns="0" bIns="0" rtlCol="0" anchor="t"/>
          <a:lstStyle/>
          <a:p>
            <a:pPr marL="0" indent="0">
              <a:buNone/>
            </a:pPr>
            <a:r>
              <a:rPr lang="en-US" sz="2000" b="1" dirty="0">
                <a:solidFill>
                  <a:schemeClr val="tx2"/>
                </a:solidFill>
              </a:rPr>
              <a:t>Bar chart</a:t>
            </a:r>
            <a:endParaRPr lang="en-US" sz="1600" dirty="0"/>
          </a:p>
          <a:p>
            <a:pPr marL="0" indent="0">
              <a:buNone/>
            </a:pPr>
            <a:r>
              <a:rPr lang="en-US" sz="1600" dirty="0">
                <a:solidFill>
                  <a:schemeClr val="tx1"/>
                </a:solidFill>
              </a:rPr>
              <a:t>Category-wise expenditure. Education is highest at ₹279.99, Entertainment lowest at ₹43.99.</a:t>
            </a:r>
            <a:endParaRPr lang="en-US" sz="1600" dirty="0"/>
          </a:p>
          <a:p>
            <a:pPr marL="0" indent="0">
              <a:buNone/>
            </a:pPr>
            <a:r>
              <a:rPr lang="en-US" sz="1000" dirty="0">
                <a:solidFill>
                  <a:schemeClr val="tx1"/>
                </a:solidFill>
              </a:rPr>
              <a:t> </a:t>
            </a:r>
            <a:endParaRPr lang="en-US" sz="1600" dirty="0"/>
          </a:p>
          <a:p>
            <a:pPr marL="0" indent="0">
              <a:buNone/>
            </a:pPr>
            <a:r>
              <a:rPr lang="en-US" sz="2000" b="1" dirty="0">
                <a:solidFill>
                  <a:schemeClr val="tx2"/>
                </a:solidFill>
              </a:rPr>
              <a:t>Pie chart</a:t>
            </a:r>
            <a:endParaRPr lang="en-US" sz="1600" dirty="0"/>
          </a:p>
          <a:p>
            <a:pPr marL="0" indent="0">
              <a:buNone/>
            </a:pPr>
            <a:r>
              <a:rPr lang="en-US" sz="1600" dirty="0">
                <a:solidFill>
                  <a:schemeClr val="tx1"/>
                </a:solidFill>
              </a:rPr>
              <a:t>Share of total spending: Education 38.5%, Shopping 22.8%, Food 20.5%, Travel 12.1%, Entertainment 6.1%.</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Implementation: Trend and Distribution Charts</a:t>
            </a:r>
            <a:endParaRPr lang="en-US" sz="3400" dirty="0"/>
          </a:p>
        </p:txBody>
      </p:sp>
      <p:sp>
        <p:nvSpPr>
          <p:cNvPr id="4" name="Line plot and histogram screenshot frame"/>
          <p:cNvSpPr/>
          <p:nvPr/>
        </p:nvSpPr>
        <p:spPr>
          <a:xfrm>
            <a:off x="521208" y="1344168"/>
            <a:ext cx="10993913" cy="3987164"/>
          </a:xfrm>
          <a:prstGeom prst="rect">
            <a:avLst/>
          </a:prstGeom>
          <a:solidFill>
            <a:schemeClr val="bg1"/>
          </a:solidFill>
          <a:ln w="12700">
            <a:solidFill>
              <a:srgbClr val="C8D0D8"/>
            </a:solidFill>
            <a:prstDash val="solid"/>
          </a:ln>
        </p:spPr>
        <p:txBody>
          <a:bodyPr/>
          <a:lstStyle/>
          <a:p>
            <a:endParaRPr lang="en-US"/>
          </a:p>
        </p:txBody>
      </p:sp>
      <p:pic>
        <p:nvPicPr>
          <p:cNvPr id="5" name="Line plot and histogram screenshot" descr="Line plot and histogram screenshot"/>
          <p:cNvPicPr>
            <a:picLocks noChangeAspect="1"/>
          </p:cNvPicPr>
          <p:nvPr/>
        </p:nvPicPr>
        <p:blipFill>
          <a:blip r:embed="rId3"/>
          <a:stretch>
            <a:fillRect/>
          </a:stretch>
        </p:blipFill>
        <p:spPr>
          <a:xfrm>
            <a:off x="548640" y="1371600"/>
            <a:ext cx="10939049" cy="3932300"/>
          </a:xfrm>
          <a:prstGeom prst="rect">
            <a:avLst/>
          </a:prstGeom>
        </p:spPr>
      </p:pic>
      <p:sp>
        <p:nvSpPr>
          <p:cNvPr id="6" name="Text 2"/>
          <p:cNvSpPr txBox="1"/>
          <p:nvPr/>
        </p:nvSpPr>
        <p:spPr>
          <a:xfrm>
            <a:off x="548640" y="5532120"/>
            <a:ext cx="5303520" cy="777240"/>
          </a:xfrm>
          <a:prstGeom prst="rect">
            <a:avLst/>
          </a:prstGeom>
          <a:noFill/>
          <a:ln/>
        </p:spPr>
        <p:txBody>
          <a:bodyPr wrap="square" lIns="0" tIns="0" rIns="0" bIns="0" rtlCol="0" anchor="t"/>
          <a:lstStyle/>
          <a:p>
            <a:pPr marL="0" indent="0">
              <a:buNone/>
            </a:pPr>
            <a:r>
              <a:rPr lang="en-US" sz="1600" b="1" dirty="0">
                <a:solidFill>
                  <a:schemeClr val="tx2"/>
                </a:solidFill>
              </a:rPr>
              <a:t>Line plot: </a:t>
            </a:r>
            <a:r>
              <a:rPr lang="en-US" sz="1600" dirty="0">
                <a:solidFill>
                  <a:schemeClr val="tx1"/>
                </a:solidFill>
              </a:rPr>
              <a:t>monthly spending fell from ₹406.05 in August to ₹320.98 in September.</a:t>
            </a:r>
            <a:endParaRPr lang="en-US" sz="1600" dirty="0"/>
          </a:p>
        </p:txBody>
      </p:sp>
      <p:sp>
        <p:nvSpPr>
          <p:cNvPr id="7" name="Text 3"/>
          <p:cNvSpPr txBox="1"/>
          <p:nvPr/>
        </p:nvSpPr>
        <p:spPr>
          <a:xfrm>
            <a:off x="6336792" y="5532120"/>
            <a:ext cx="5303520" cy="777240"/>
          </a:xfrm>
          <a:prstGeom prst="rect">
            <a:avLst/>
          </a:prstGeom>
          <a:noFill/>
          <a:ln/>
        </p:spPr>
        <p:txBody>
          <a:bodyPr wrap="square" lIns="0" tIns="0" rIns="0" bIns="0" rtlCol="0" anchor="t"/>
          <a:lstStyle/>
          <a:p>
            <a:pPr marL="0" indent="0">
              <a:buNone/>
            </a:pPr>
            <a:r>
              <a:rPr lang="en-US" sz="1600" b="1" dirty="0">
                <a:solidFill>
                  <a:schemeClr val="tx2"/>
                </a:solidFill>
              </a:rPr>
              <a:t>Histogram: </a:t>
            </a:r>
            <a:r>
              <a:rPr lang="en-US" sz="1600" dirty="0">
                <a:solidFill>
                  <a:schemeClr val="tx1"/>
                </a:solidFill>
              </a:rPr>
              <a:t>most expenses are small; one large purchase of about ₹120 stands out.</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Testing and Results</a:t>
            </a:r>
            <a:endParaRPr lang="en-US" sz="3400" dirty="0"/>
          </a:p>
        </p:txBody>
      </p:sp>
      <p:sp>
        <p:nvSpPr>
          <p:cNvPr id="4" name="Summary cards screenshot frame"/>
          <p:cNvSpPr/>
          <p:nvPr/>
        </p:nvSpPr>
        <p:spPr>
          <a:xfrm>
            <a:off x="521208" y="1344168"/>
            <a:ext cx="7825167" cy="1837944"/>
          </a:xfrm>
          <a:prstGeom prst="rect">
            <a:avLst/>
          </a:prstGeom>
          <a:solidFill>
            <a:schemeClr val="bg1"/>
          </a:solidFill>
          <a:ln w="12700">
            <a:solidFill>
              <a:srgbClr val="C8D0D8"/>
            </a:solidFill>
            <a:prstDash val="solid"/>
          </a:ln>
        </p:spPr>
        <p:txBody>
          <a:bodyPr/>
          <a:lstStyle/>
          <a:p>
            <a:endParaRPr lang="en-US"/>
          </a:p>
        </p:txBody>
      </p:sp>
      <p:pic>
        <p:nvPicPr>
          <p:cNvPr id="5" name="Summary cards screenshot" descr="Summary cards screenshot"/>
          <p:cNvPicPr>
            <a:picLocks noChangeAspect="1"/>
          </p:cNvPicPr>
          <p:nvPr/>
        </p:nvPicPr>
        <p:blipFill>
          <a:blip r:embed="rId3"/>
          <a:stretch>
            <a:fillRect/>
          </a:stretch>
        </p:blipFill>
        <p:spPr>
          <a:xfrm>
            <a:off x="548640" y="1371600"/>
            <a:ext cx="7770303" cy="1783080"/>
          </a:xfrm>
          <a:prstGeom prst="rect">
            <a:avLst/>
          </a:prstGeom>
        </p:spPr>
      </p:pic>
      <p:sp>
        <p:nvSpPr>
          <p:cNvPr id="6" name="Text 2"/>
          <p:cNvSpPr txBox="1"/>
          <p:nvPr/>
        </p:nvSpPr>
        <p:spPr>
          <a:xfrm>
            <a:off x="8730423" y="1371600"/>
            <a:ext cx="2909889" cy="17830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19 transactions across 5 categories</a:t>
            </a:r>
            <a:endParaRPr lang="en-US" sz="1500" dirty="0"/>
          </a:p>
          <a:p>
            <a:pPr marL="342900" indent="-342900">
              <a:spcAft>
                <a:spcPts val="500"/>
              </a:spcAft>
              <a:buSzPct val="100000"/>
              <a:buChar char="•"/>
            </a:pPr>
            <a:r>
              <a:rPr lang="en-US" sz="1500" dirty="0">
                <a:solidFill>
                  <a:schemeClr val="tx1"/>
                </a:solidFill>
              </a:rPr>
              <a:t>Education leads with 38.5% of spending</a:t>
            </a:r>
            <a:endParaRPr lang="en-US" sz="1500" dirty="0"/>
          </a:p>
          <a:p>
            <a:pPr marL="342900" indent="-342900">
              <a:spcAft>
                <a:spcPts val="500"/>
              </a:spcAft>
              <a:buSzPct val="100000"/>
              <a:buChar char="•"/>
            </a:pPr>
            <a:r>
              <a:rPr lang="en-US" sz="1500" dirty="0">
                <a:solidFill>
                  <a:schemeClr val="tx1"/>
                </a:solidFill>
              </a:rPr>
              <a:t>39 of 39 automated tests pass</a:t>
            </a:r>
            <a:endParaRPr lang="en-US" sz="1500" dirty="0"/>
          </a:p>
          <a:p>
            <a:pPr marL="342900" indent="-342900">
              <a:spcAft>
                <a:spcPts val="500"/>
              </a:spcAft>
              <a:buSzPct val="100000"/>
              <a:buChar char="•"/>
            </a:pPr>
            <a:r>
              <a:rPr lang="en-US" sz="1500" dirty="0">
                <a:solidFill>
                  <a:schemeClr val="tx1"/>
                </a:solidFill>
              </a:rPr>
              <a:t>Analysis of 50,000 rows takes 15 ms</a:t>
            </a:r>
            <a:endParaRPr lang="en-US" sz="1500" dirty="0"/>
          </a:p>
        </p:txBody>
      </p:sp>
      <p:graphicFrame>
        <p:nvGraphicFramePr>
          <p:cNvPr id="15" name="Test case table"/>
          <p:cNvGraphicFramePr>
            <a:graphicFrameLocks noGrp="1"/>
          </p:cNvGraphicFramePr>
          <p:nvPr>
            <p:extLst>
              <p:ext uri="{D42A27DB-BD31-4B8C-83A1-F6EECF244321}">
                <p14:modId xmlns:p14="http://schemas.microsoft.com/office/powerpoint/2010/main" val="1579011935"/>
              </p:ext>
            </p:extLst>
          </p:nvPr>
        </p:nvGraphicFramePr>
        <p:xfrm>
          <a:off x="548640" y="3429000"/>
          <a:ext cx="11091672" cy="914400"/>
        </p:xfrm>
        <a:graphic>
          <a:graphicData uri="http://schemas.openxmlformats.org/drawingml/2006/table">
            <a:tbl>
              <a:tblPr/>
              <a:tblGrid>
                <a:gridCol w="33832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1216152">
                  <a:extLst>
                    <a:ext uri="{9D8B030D-6E8A-4147-A177-3AD203B41FA5}">
                      <a16:colId xmlns:a16="http://schemas.microsoft.com/office/drawing/2014/main" val="20003"/>
                    </a:ext>
                  </a:extLst>
                </a:gridCol>
              </a:tblGrid>
              <a:tr h="393192">
                <a:tc>
                  <a:txBody>
                    <a:bodyPr/>
                    <a:lstStyle/>
                    <a:p>
                      <a:pPr marL="0" indent="0">
                        <a:buNone/>
                      </a:pPr>
                      <a:r>
                        <a:rPr lang="en-US" sz="1400" b="1" dirty="0">
                          <a:solidFill>
                            <a:schemeClr val="bg1"/>
                          </a:solidFill>
                        </a:rPr>
                        <a:t>Test case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Input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Expected result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Result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93192">
                <a:tc>
                  <a:txBody>
                    <a:bodyPr/>
                    <a:lstStyle/>
                    <a:p>
                      <a:pPr marL="0" indent="0">
                        <a:buNone/>
                      </a:pPr>
                      <a:r>
                        <a:rPr lang="en-US" sz="1400" b="1" dirty="0">
                          <a:solidFill>
                            <a:schemeClr val="tx2"/>
                          </a:solidFill>
                        </a:rPr>
                        <a:t>Valid expense entry</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2026-03-14, Food, 249.50</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Record saved to CSV</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3192">
                <a:tc>
                  <a:txBody>
                    <a:bodyPr/>
                    <a:lstStyle/>
                    <a:p>
                      <a:pPr marL="0" indent="0">
                        <a:buNone/>
                      </a:pPr>
                      <a:r>
                        <a:rPr lang="en-US" sz="1400" b="1" dirty="0">
                          <a:solidFill>
                            <a:schemeClr val="tx2"/>
                          </a:solidFill>
                        </a:rPr>
                        <a:t>Invalid or future date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2025-02-30, tomorrow</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Rejected with a message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93192">
                <a:tc>
                  <a:txBody>
                    <a:bodyPr/>
                    <a:lstStyle/>
                    <a:p>
                      <a:pPr marL="0" indent="0">
                        <a:buNone/>
                      </a:pPr>
                      <a:r>
                        <a:rPr lang="en-US" sz="1400" b="1" dirty="0">
                          <a:solidFill>
                            <a:schemeClr val="tx2"/>
                          </a:solidFill>
                        </a:rPr>
                        <a:t>Invalid amount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abc, 0, -5, nan</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Rejected with a message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3192">
                <a:tc>
                  <a:txBody>
                    <a:bodyPr/>
                    <a:lstStyle/>
                    <a:p>
                      <a:pPr marL="0" indent="0">
                        <a:buNone/>
                      </a:pPr>
                      <a:r>
                        <a:rPr lang="en-US" sz="1400" b="1" dirty="0">
                          <a:solidFill>
                            <a:schemeClr val="tx2"/>
                          </a:solidFill>
                        </a:rPr>
                        <a:t>Unknown category</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Gadgets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Rejected with a message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93192">
                <a:tc>
                  <a:txBody>
                    <a:bodyPr/>
                    <a:lstStyle/>
                    <a:p>
                      <a:pPr marL="0" indent="0">
                        <a:buNone/>
                      </a:pPr>
                      <a:r>
                        <a:rPr lang="en-US" sz="1400" b="1" dirty="0">
                          <a:solidFill>
                            <a:schemeClr val="tx2"/>
                          </a:solidFill>
                        </a:rPr>
                        <a:t>Corrupt rows in file</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Bad date, negative amount</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Rows skipped, rest loaded</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93192">
                <a:tc>
                  <a:txBody>
                    <a:bodyPr/>
                    <a:lstStyle/>
                    <a:p>
                      <a:pPr marL="0" indent="0">
                        <a:buNone/>
                      </a:pPr>
                      <a:r>
                        <a:rPr lang="en-US" sz="1400" b="1" dirty="0">
                          <a:solidFill>
                            <a:schemeClr val="tx2"/>
                          </a:solidFill>
                        </a:rPr>
                        <a:t>Private page without sign-in</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Open /expenses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Redirected to sign in</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accent4"/>
                          </a:solidFill>
                        </a:rPr>
                        <a:t>Pass</a:t>
                      </a:r>
                      <a:endParaRPr lang="en-US" sz="1400" dirty="0"/>
                    </a:p>
                  </a:txBody>
                  <a:tcPr marL="73152" marR="73152" marT="73152" marB="73152"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Conclusion and Future Scope</a:t>
            </a:r>
            <a:endParaRPr lang="en-US" sz="3400" dirty="0"/>
          </a:p>
        </p:txBody>
      </p:sp>
      <p:sp>
        <p:nvSpPr>
          <p:cNvPr id="4" name="Conclusion panel"/>
          <p:cNvSpPr/>
          <p:nvPr/>
        </p:nvSpPr>
        <p:spPr>
          <a:xfrm>
            <a:off x="548640" y="1371600"/>
            <a:ext cx="6035040" cy="4846320"/>
          </a:xfrm>
          <a:prstGeom prst="roundRect">
            <a:avLst>
              <a:gd name="adj" fmla="val 1509"/>
            </a:avLst>
          </a:prstGeom>
          <a:solidFill>
            <a:schemeClr val="accent1"/>
          </a:solidFill>
          <a:ln/>
        </p:spPr>
        <p:txBody>
          <a:bodyPr/>
          <a:lstStyle/>
          <a:p>
            <a:endParaRPr lang="en-US"/>
          </a:p>
        </p:txBody>
      </p:sp>
      <p:sp>
        <p:nvSpPr>
          <p:cNvPr id="5" name="Text 2"/>
          <p:cNvSpPr txBox="1"/>
          <p:nvPr/>
        </p:nvSpPr>
        <p:spPr>
          <a:xfrm>
            <a:off x="868680" y="1554480"/>
            <a:ext cx="5394960" cy="457200"/>
          </a:xfrm>
          <a:prstGeom prst="rect">
            <a:avLst/>
          </a:prstGeom>
          <a:noFill/>
          <a:ln/>
        </p:spPr>
        <p:txBody>
          <a:bodyPr wrap="square" lIns="0" tIns="0" rIns="0" bIns="0" rtlCol="0" anchor="t"/>
          <a:lstStyle/>
          <a:p>
            <a:pPr marL="0" indent="0">
              <a:buNone/>
            </a:pPr>
            <a:r>
              <a:rPr lang="en-US" sz="2200" b="1" dirty="0">
                <a:solidFill>
                  <a:schemeClr val="accent2"/>
                </a:solidFill>
              </a:rPr>
              <a:t>Conclusion: objectives achieved</a:t>
            </a:r>
            <a:endParaRPr lang="en-US" sz="2200" dirty="0"/>
          </a:p>
        </p:txBody>
      </p:sp>
      <p:sp>
        <p:nvSpPr>
          <p:cNvPr id="6" name="Check 1 circle"/>
          <p:cNvSpPr/>
          <p:nvPr/>
        </p:nvSpPr>
        <p:spPr>
          <a:xfrm>
            <a:off x="868680" y="2240280"/>
            <a:ext cx="411480" cy="411480"/>
          </a:xfrm>
          <a:prstGeom prst="ellipse">
            <a:avLst/>
          </a:prstGeom>
          <a:solidFill>
            <a:schemeClr val="accent2"/>
          </a:solidFill>
          <a:ln/>
        </p:spPr>
        <p:txBody>
          <a:bodyPr/>
          <a:lstStyle/>
          <a:p>
            <a:endParaRPr lang="en-US"/>
          </a:p>
        </p:txBody>
      </p:sp>
      <p:pic>
        <p:nvPicPr>
          <p:cNvPr id="7" name="Check 1" descr="Check 1"/>
          <p:cNvPicPr>
            <a:picLocks noChangeAspect="1"/>
          </p:cNvPicPr>
          <p:nvPr/>
        </p:nvPicPr>
        <p:blipFill>
          <a:blip r:embed="rId3"/>
          <a:stretch>
            <a:fillRect/>
          </a:stretch>
        </p:blipFill>
        <p:spPr>
          <a:xfrm>
            <a:off x="979780" y="2351380"/>
            <a:ext cx="189281" cy="189281"/>
          </a:xfrm>
          <a:prstGeom prst="rect">
            <a:avLst/>
          </a:prstGeom>
        </p:spPr>
      </p:pic>
      <p:sp>
        <p:nvSpPr>
          <p:cNvPr id="8" name="Text 4"/>
          <p:cNvSpPr txBox="1"/>
          <p:nvPr/>
        </p:nvSpPr>
        <p:spPr>
          <a:xfrm>
            <a:off x="1463040" y="2194560"/>
            <a:ext cx="4846320" cy="594360"/>
          </a:xfrm>
          <a:prstGeom prst="rect">
            <a:avLst/>
          </a:prstGeom>
          <a:noFill/>
          <a:ln/>
        </p:spPr>
        <p:txBody>
          <a:bodyPr wrap="square" lIns="0" tIns="0" rIns="0" bIns="0" rtlCol="0" anchor="ctr"/>
          <a:lstStyle/>
          <a:p>
            <a:pPr marL="0" indent="0">
              <a:buNone/>
            </a:pPr>
            <a:r>
              <a:rPr lang="en-US" sz="1600" dirty="0">
                <a:solidFill>
                  <a:schemeClr val="bg1"/>
                </a:solidFill>
              </a:rPr>
              <a:t>Records expenses with date, category, amount and description</a:t>
            </a:r>
            <a:endParaRPr lang="en-US" sz="1600" dirty="0"/>
          </a:p>
        </p:txBody>
      </p:sp>
      <p:sp>
        <p:nvSpPr>
          <p:cNvPr id="9" name="Check 2 circle"/>
          <p:cNvSpPr/>
          <p:nvPr/>
        </p:nvSpPr>
        <p:spPr>
          <a:xfrm>
            <a:off x="868680" y="2898648"/>
            <a:ext cx="411480" cy="411480"/>
          </a:xfrm>
          <a:prstGeom prst="ellipse">
            <a:avLst/>
          </a:prstGeom>
          <a:solidFill>
            <a:schemeClr val="accent2"/>
          </a:solidFill>
          <a:ln/>
        </p:spPr>
        <p:txBody>
          <a:bodyPr/>
          <a:lstStyle/>
          <a:p>
            <a:endParaRPr lang="en-US"/>
          </a:p>
        </p:txBody>
      </p:sp>
      <p:pic>
        <p:nvPicPr>
          <p:cNvPr id="10" name="Check 2" descr="Check 2"/>
          <p:cNvPicPr>
            <a:picLocks noChangeAspect="1"/>
          </p:cNvPicPr>
          <p:nvPr/>
        </p:nvPicPr>
        <p:blipFill>
          <a:blip r:embed="rId3"/>
          <a:stretch>
            <a:fillRect/>
          </a:stretch>
        </p:blipFill>
        <p:spPr>
          <a:xfrm>
            <a:off x="979780" y="3009748"/>
            <a:ext cx="189281" cy="189281"/>
          </a:xfrm>
          <a:prstGeom prst="rect">
            <a:avLst/>
          </a:prstGeom>
        </p:spPr>
      </p:pic>
      <p:sp>
        <p:nvSpPr>
          <p:cNvPr id="11" name="Text 6"/>
          <p:cNvSpPr txBox="1"/>
          <p:nvPr/>
        </p:nvSpPr>
        <p:spPr>
          <a:xfrm>
            <a:off x="1463040" y="2852928"/>
            <a:ext cx="4846320" cy="594360"/>
          </a:xfrm>
          <a:prstGeom prst="rect">
            <a:avLst/>
          </a:prstGeom>
          <a:noFill/>
          <a:ln/>
        </p:spPr>
        <p:txBody>
          <a:bodyPr wrap="square" lIns="0" tIns="0" rIns="0" bIns="0" rtlCol="0" anchor="ctr"/>
          <a:lstStyle/>
          <a:p>
            <a:pPr marL="0" indent="0">
              <a:buNone/>
            </a:pPr>
            <a:r>
              <a:rPr lang="en-US" sz="1600" dirty="0">
                <a:solidFill>
                  <a:schemeClr val="bg1"/>
                </a:solidFill>
              </a:rPr>
              <a:t>Rejects invalid dates, amounts and categories</a:t>
            </a:r>
            <a:endParaRPr lang="en-US" sz="1600" dirty="0"/>
          </a:p>
        </p:txBody>
      </p:sp>
      <p:sp>
        <p:nvSpPr>
          <p:cNvPr id="12" name="Check 3 circle"/>
          <p:cNvSpPr/>
          <p:nvPr/>
        </p:nvSpPr>
        <p:spPr>
          <a:xfrm>
            <a:off x="868680" y="3557016"/>
            <a:ext cx="411480" cy="411480"/>
          </a:xfrm>
          <a:prstGeom prst="ellipse">
            <a:avLst/>
          </a:prstGeom>
          <a:solidFill>
            <a:schemeClr val="accent2"/>
          </a:solidFill>
          <a:ln/>
        </p:spPr>
        <p:txBody>
          <a:bodyPr/>
          <a:lstStyle/>
          <a:p>
            <a:endParaRPr lang="en-US"/>
          </a:p>
        </p:txBody>
      </p:sp>
      <p:pic>
        <p:nvPicPr>
          <p:cNvPr id="13" name="Check 3" descr="Check 3"/>
          <p:cNvPicPr>
            <a:picLocks noChangeAspect="1"/>
          </p:cNvPicPr>
          <p:nvPr/>
        </p:nvPicPr>
        <p:blipFill>
          <a:blip r:embed="rId3"/>
          <a:stretch>
            <a:fillRect/>
          </a:stretch>
        </p:blipFill>
        <p:spPr>
          <a:xfrm>
            <a:off x="979780" y="3668116"/>
            <a:ext cx="189281" cy="189281"/>
          </a:xfrm>
          <a:prstGeom prst="rect">
            <a:avLst/>
          </a:prstGeom>
        </p:spPr>
      </p:pic>
      <p:sp>
        <p:nvSpPr>
          <p:cNvPr id="14" name="Text 8"/>
          <p:cNvSpPr txBox="1"/>
          <p:nvPr/>
        </p:nvSpPr>
        <p:spPr>
          <a:xfrm>
            <a:off x="1463040" y="3511296"/>
            <a:ext cx="4846320" cy="594360"/>
          </a:xfrm>
          <a:prstGeom prst="rect">
            <a:avLst/>
          </a:prstGeom>
          <a:noFill/>
          <a:ln/>
        </p:spPr>
        <p:txBody>
          <a:bodyPr wrap="square" lIns="0" tIns="0" rIns="0" bIns="0" rtlCol="0" anchor="ctr"/>
          <a:lstStyle/>
          <a:p>
            <a:pPr marL="0" indent="0">
              <a:buNone/>
            </a:pPr>
            <a:r>
              <a:rPr lang="en-US" sz="1600" dirty="0">
                <a:solidFill>
                  <a:schemeClr val="bg1"/>
                </a:solidFill>
              </a:rPr>
              <a:t>Calculates total, monthly, category and average spending with Pandas</a:t>
            </a:r>
            <a:endParaRPr lang="en-US" sz="1600" dirty="0"/>
          </a:p>
        </p:txBody>
      </p:sp>
      <p:sp>
        <p:nvSpPr>
          <p:cNvPr id="15" name="Check 4 circle"/>
          <p:cNvSpPr/>
          <p:nvPr/>
        </p:nvSpPr>
        <p:spPr>
          <a:xfrm>
            <a:off x="868680" y="4215384"/>
            <a:ext cx="411480" cy="411480"/>
          </a:xfrm>
          <a:prstGeom prst="ellipse">
            <a:avLst/>
          </a:prstGeom>
          <a:solidFill>
            <a:schemeClr val="accent2"/>
          </a:solidFill>
          <a:ln/>
        </p:spPr>
        <p:txBody>
          <a:bodyPr/>
          <a:lstStyle/>
          <a:p>
            <a:endParaRPr lang="en-US"/>
          </a:p>
        </p:txBody>
      </p:sp>
      <p:pic>
        <p:nvPicPr>
          <p:cNvPr id="16" name="Check 4" descr="Check 4"/>
          <p:cNvPicPr>
            <a:picLocks noChangeAspect="1"/>
          </p:cNvPicPr>
          <p:nvPr/>
        </p:nvPicPr>
        <p:blipFill>
          <a:blip r:embed="rId3"/>
          <a:stretch>
            <a:fillRect/>
          </a:stretch>
        </p:blipFill>
        <p:spPr>
          <a:xfrm>
            <a:off x="979780" y="4326484"/>
            <a:ext cx="189281" cy="189281"/>
          </a:xfrm>
          <a:prstGeom prst="rect">
            <a:avLst/>
          </a:prstGeom>
        </p:spPr>
      </p:pic>
      <p:sp>
        <p:nvSpPr>
          <p:cNvPr id="17" name="Text 10"/>
          <p:cNvSpPr txBox="1"/>
          <p:nvPr/>
        </p:nvSpPr>
        <p:spPr>
          <a:xfrm>
            <a:off x="1463040" y="4169664"/>
            <a:ext cx="4846320" cy="594360"/>
          </a:xfrm>
          <a:prstGeom prst="rect">
            <a:avLst/>
          </a:prstGeom>
          <a:noFill/>
          <a:ln/>
        </p:spPr>
        <p:txBody>
          <a:bodyPr wrap="square" lIns="0" tIns="0" rIns="0" bIns="0" rtlCol="0" anchor="ctr"/>
          <a:lstStyle/>
          <a:p>
            <a:pPr marL="0" indent="0">
              <a:buNone/>
            </a:pPr>
            <a:r>
              <a:rPr lang="en-US" sz="1600" dirty="0">
                <a:solidFill>
                  <a:schemeClr val="bg1"/>
                </a:solidFill>
              </a:rPr>
              <a:t>Finds highest and lowest expenses; sorts and searches records</a:t>
            </a:r>
            <a:endParaRPr lang="en-US" sz="1600" dirty="0"/>
          </a:p>
        </p:txBody>
      </p:sp>
      <p:sp>
        <p:nvSpPr>
          <p:cNvPr id="18" name="Check 5 circle"/>
          <p:cNvSpPr/>
          <p:nvPr/>
        </p:nvSpPr>
        <p:spPr>
          <a:xfrm>
            <a:off x="868680" y="4873752"/>
            <a:ext cx="411480" cy="411480"/>
          </a:xfrm>
          <a:prstGeom prst="ellipse">
            <a:avLst/>
          </a:prstGeom>
          <a:solidFill>
            <a:schemeClr val="accent2"/>
          </a:solidFill>
          <a:ln/>
        </p:spPr>
        <p:txBody>
          <a:bodyPr/>
          <a:lstStyle/>
          <a:p>
            <a:endParaRPr lang="en-US"/>
          </a:p>
        </p:txBody>
      </p:sp>
      <p:pic>
        <p:nvPicPr>
          <p:cNvPr id="19" name="Check 5" descr="Check 5"/>
          <p:cNvPicPr>
            <a:picLocks noChangeAspect="1"/>
          </p:cNvPicPr>
          <p:nvPr/>
        </p:nvPicPr>
        <p:blipFill>
          <a:blip r:embed="rId3"/>
          <a:stretch>
            <a:fillRect/>
          </a:stretch>
        </p:blipFill>
        <p:spPr>
          <a:xfrm>
            <a:off x="979780" y="4984852"/>
            <a:ext cx="189281" cy="189281"/>
          </a:xfrm>
          <a:prstGeom prst="rect">
            <a:avLst/>
          </a:prstGeom>
        </p:spPr>
      </p:pic>
      <p:sp>
        <p:nvSpPr>
          <p:cNvPr id="20" name="Text 12"/>
          <p:cNvSpPr txBox="1"/>
          <p:nvPr/>
        </p:nvSpPr>
        <p:spPr>
          <a:xfrm>
            <a:off x="1463040" y="4828032"/>
            <a:ext cx="4846320" cy="594360"/>
          </a:xfrm>
          <a:prstGeom prst="rect">
            <a:avLst/>
          </a:prstGeom>
          <a:noFill/>
          <a:ln/>
        </p:spPr>
        <p:txBody>
          <a:bodyPr wrap="square" lIns="0" tIns="0" rIns="0" bIns="0" rtlCol="0" anchor="ctr"/>
          <a:lstStyle/>
          <a:p>
            <a:pPr marL="0" indent="0">
              <a:buNone/>
            </a:pPr>
            <a:r>
              <a:rPr lang="en-US" sz="1600" dirty="0">
                <a:solidFill>
                  <a:schemeClr val="bg1"/>
                </a:solidFill>
              </a:rPr>
              <a:t>Saves records to files and loads them again</a:t>
            </a:r>
            <a:endParaRPr lang="en-US" sz="1600" dirty="0"/>
          </a:p>
        </p:txBody>
      </p:sp>
      <p:sp>
        <p:nvSpPr>
          <p:cNvPr id="21" name="Check 6 circle"/>
          <p:cNvSpPr/>
          <p:nvPr/>
        </p:nvSpPr>
        <p:spPr>
          <a:xfrm>
            <a:off x="868680" y="5532120"/>
            <a:ext cx="411480" cy="411480"/>
          </a:xfrm>
          <a:prstGeom prst="ellipse">
            <a:avLst/>
          </a:prstGeom>
          <a:solidFill>
            <a:schemeClr val="accent2"/>
          </a:solidFill>
          <a:ln/>
        </p:spPr>
        <p:txBody>
          <a:bodyPr/>
          <a:lstStyle/>
          <a:p>
            <a:endParaRPr lang="en-US"/>
          </a:p>
        </p:txBody>
      </p:sp>
      <p:pic>
        <p:nvPicPr>
          <p:cNvPr id="22" name="Check 6" descr="Check 6"/>
          <p:cNvPicPr>
            <a:picLocks noChangeAspect="1"/>
          </p:cNvPicPr>
          <p:nvPr/>
        </p:nvPicPr>
        <p:blipFill>
          <a:blip r:embed="rId3"/>
          <a:stretch>
            <a:fillRect/>
          </a:stretch>
        </p:blipFill>
        <p:spPr>
          <a:xfrm>
            <a:off x="979780" y="5643220"/>
            <a:ext cx="189281" cy="189281"/>
          </a:xfrm>
          <a:prstGeom prst="rect">
            <a:avLst/>
          </a:prstGeom>
        </p:spPr>
      </p:pic>
      <p:sp>
        <p:nvSpPr>
          <p:cNvPr id="23" name="Text 14"/>
          <p:cNvSpPr txBox="1"/>
          <p:nvPr/>
        </p:nvSpPr>
        <p:spPr>
          <a:xfrm>
            <a:off x="1463040" y="5486400"/>
            <a:ext cx="4846320" cy="594360"/>
          </a:xfrm>
          <a:prstGeom prst="rect">
            <a:avLst/>
          </a:prstGeom>
          <a:noFill/>
          <a:ln/>
        </p:spPr>
        <p:txBody>
          <a:bodyPr wrap="square" lIns="0" tIns="0" rIns="0" bIns="0" rtlCol="0" anchor="ctr"/>
          <a:lstStyle/>
          <a:p>
            <a:pPr marL="0" indent="0">
              <a:buNone/>
            </a:pPr>
            <a:r>
              <a:rPr lang="en-US" sz="1600" dirty="0">
                <a:solidFill>
                  <a:schemeClr val="bg1"/>
                </a:solidFill>
              </a:rPr>
              <a:t>Shows bar, pie, line and histogram charts in a browser dashboard</a:t>
            </a:r>
            <a:endParaRPr lang="en-US" sz="1600" dirty="0"/>
          </a:p>
        </p:txBody>
      </p:sp>
      <p:sp>
        <p:nvSpPr>
          <p:cNvPr id="24" name="Text 15"/>
          <p:cNvSpPr txBox="1"/>
          <p:nvPr/>
        </p:nvSpPr>
        <p:spPr>
          <a:xfrm>
            <a:off x="6858000" y="1371600"/>
            <a:ext cx="4754880" cy="457200"/>
          </a:xfrm>
          <a:prstGeom prst="rect">
            <a:avLst/>
          </a:prstGeom>
          <a:noFill/>
          <a:ln/>
        </p:spPr>
        <p:txBody>
          <a:bodyPr wrap="square" lIns="0" tIns="0" rIns="0" bIns="0" rtlCol="0" anchor="t"/>
          <a:lstStyle/>
          <a:p>
            <a:pPr marL="0" indent="0">
              <a:buNone/>
            </a:pPr>
            <a:r>
              <a:rPr lang="en-US" sz="2200" b="1" dirty="0">
                <a:solidFill>
                  <a:schemeClr val="tx2"/>
                </a:solidFill>
              </a:rPr>
              <a:t>Future scope</a:t>
            </a:r>
            <a:endParaRPr lang="en-US" sz="2200" dirty="0"/>
          </a:p>
        </p:txBody>
      </p:sp>
      <p:sp>
        <p:nvSpPr>
          <p:cNvPr id="25" name="Future item 1"/>
          <p:cNvSpPr/>
          <p:nvPr/>
        </p:nvSpPr>
        <p:spPr>
          <a:xfrm>
            <a:off x="6858000" y="1965960"/>
            <a:ext cx="4782312" cy="914400"/>
          </a:xfrm>
          <a:prstGeom prst="roundRect">
            <a:avLst>
              <a:gd name="adj" fmla="val 8000"/>
            </a:avLst>
          </a:prstGeom>
          <a:solidFill>
            <a:schemeClr val="bg2"/>
          </a:solidFill>
          <a:ln/>
        </p:spPr>
        <p:txBody>
          <a:bodyPr/>
          <a:lstStyle/>
          <a:p>
            <a:endParaRPr lang="en-US"/>
          </a:p>
        </p:txBody>
      </p:sp>
      <p:sp>
        <p:nvSpPr>
          <p:cNvPr id="26" name="Monthly budgets with overspend alerts icon circle"/>
          <p:cNvSpPr/>
          <p:nvPr/>
        </p:nvSpPr>
        <p:spPr>
          <a:xfrm>
            <a:off x="7086600" y="2130552"/>
            <a:ext cx="585216" cy="585216"/>
          </a:xfrm>
          <a:prstGeom prst="ellipse">
            <a:avLst/>
          </a:prstGeom>
          <a:solidFill>
            <a:schemeClr val="accent1"/>
          </a:solidFill>
          <a:ln/>
        </p:spPr>
        <p:txBody>
          <a:bodyPr/>
          <a:lstStyle/>
          <a:p>
            <a:endParaRPr lang="en-US"/>
          </a:p>
        </p:txBody>
      </p:sp>
      <p:pic>
        <p:nvPicPr>
          <p:cNvPr id="27" name="Monthly budgets with overspend alerts icon" descr="Monthly budgets with overspend alerts icon"/>
          <p:cNvPicPr>
            <a:picLocks noChangeAspect="1"/>
          </p:cNvPicPr>
          <p:nvPr/>
        </p:nvPicPr>
        <p:blipFill>
          <a:blip r:embed="rId4"/>
          <a:stretch>
            <a:fillRect/>
          </a:stretch>
        </p:blipFill>
        <p:spPr>
          <a:xfrm>
            <a:off x="7244608" y="2288560"/>
            <a:ext cx="269199" cy="269199"/>
          </a:xfrm>
          <a:prstGeom prst="rect">
            <a:avLst/>
          </a:prstGeom>
        </p:spPr>
      </p:pic>
      <p:sp>
        <p:nvSpPr>
          <p:cNvPr id="28" name="Text 18"/>
          <p:cNvSpPr txBox="1"/>
          <p:nvPr/>
        </p:nvSpPr>
        <p:spPr>
          <a:xfrm>
            <a:off x="7863840" y="1965960"/>
            <a:ext cx="3657600" cy="914400"/>
          </a:xfrm>
          <a:prstGeom prst="rect">
            <a:avLst/>
          </a:prstGeom>
          <a:noFill/>
          <a:ln/>
        </p:spPr>
        <p:txBody>
          <a:bodyPr wrap="square" lIns="0" tIns="0" rIns="0" bIns="0" rtlCol="0" anchor="ctr"/>
          <a:lstStyle/>
          <a:p>
            <a:pPr marL="0" indent="0">
              <a:buNone/>
            </a:pPr>
            <a:r>
              <a:rPr lang="en-US" sz="1600" dirty="0">
                <a:solidFill>
                  <a:schemeClr val="tx1"/>
                </a:solidFill>
              </a:rPr>
              <a:t>Monthly budgets with overspend alerts</a:t>
            </a:r>
            <a:endParaRPr lang="en-US" sz="1600" dirty="0"/>
          </a:p>
        </p:txBody>
      </p:sp>
      <p:sp>
        <p:nvSpPr>
          <p:cNvPr id="29" name="Future item 2"/>
          <p:cNvSpPr/>
          <p:nvPr/>
        </p:nvSpPr>
        <p:spPr>
          <a:xfrm>
            <a:off x="6858000" y="3044952"/>
            <a:ext cx="4782312" cy="914400"/>
          </a:xfrm>
          <a:prstGeom prst="roundRect">
            <a:avLst>
              <a:gd name="adj" fmla="val 8000"/>
            </a:avLst>
          </a:prstGeom>
          <a:solidFill>
            <a:schemeClr val="bg2"/>
          </a:solidFill>
          <a:ln/>
        </p:spPr>
        <p:txBody>
          <a:bodyPr/>
          <a:lstStyle/>
          <a:p>
            <a:endParaRPr lang="en-US"/>
          </a:p>
        </p:txBody>
      </p:sp>
      <p:sp>
        <p:nvSpPr>
          <p:cNvPr id="30" name="Recurring expenses such as rent and subscriptions icon circle"/>
          <p:cNvSpPr/>
          <p:nvPr/>
        </p:nvSpPr>
        <p:spPr>
          <a:xfrm>
            <a:off x="7086600" y="3209544"/>
            <a:ext cx="585216" cy="585216"/>
          </a:xfrm>
          <a:prstGeom prst="ellipse">
            <a:avLst/>
          </a:prstGeom>
          <a:solidFill>
            <a:schemeClr val="accent1"/>
          </a:solidFill>
          <a:ln/>
        </p:spPr>
        <p:txBody>
          <a:bodyPr/>
          <a:lstStyle/>
          <a:p>
            <a:endParaRPr lang="en-US"/>
          </a:p>
        </p:txBody>
      </p:sp>
      <p:pic>
        <p:nvPicPr>
          <p:cNvPr id="31" name="Recurring expenses such as rent and subscriptions icon" descr="Recurring expenses such as rent and subscriptions icon"/>
          <p:cNvPicPr>
            <a:picLocks noChangeAspect="1"/>
          </p:cNvPicPr>
          <p:nvPr/>
        </p:nvPicPr>
        <p:blipFill>
          <a:blip r:embed="rId5"/>
          <a:stretch>
            <a:fillRect/>
          </a:stretch>
        </p:blipFill>
        <p:spPr>
          <a:xfrm>
            <a:off x="7244608" y="3367552"/>
            <a:ext cx="269199" cy="269199"/>
          </a:xfrm>
          <a:prstGeom prst="rect">
            <a:avLst/>
          </a:prstGeom>
        </p:spPr>
      </p:pic>
      <p:sp>
        <p:nvSpPr>
          <p:cNvPr id="32" name="Text 21"/>
          <p:cNvSpPr txBox="1"/>
          <p:nvPr/>
        </p:nvSpPr>
        <p:spPr>
          <a:xfrm>
            <a:off x="7863840" y="3044952"/>
            <a:ext cx="3657600" cy="914400"/>
          </a:xfrm>
          <a:prstGeom prst="rect">
            <a:avLst/>
          </a:prstGeom>
          <a:noFill/>
          <a:ln/>
        </p:spPr>
        <p:txBody>
          <a:bodyPr wrap="square" lIns="0" tIns="0" rIns="0" bIns="0" rtlCol="0" anchor="ctr"/>
          <a:lstStyle/>
          <a:p>
            <a:pPr marL="0" indent="0">
              <a:buNone/>
            </a:pPr>
            <a:r>
              <a:rPr lang="en-US" sz="1600" dirty="0">
                <a:solidFill>
                  <a:schemeClr val="tx1"/>
                </a:solidFill>
              </a:rPr>
              <a:t>Recurring expenses such as rent and subscriptions</a:t>
            </a:r>
            <a:endParaRPr lang="en-US" sz="1600" dirty="0"/>
          </a:p>
        </p:txBody>
      </p:sp>
      <p:sp>
        <p:nvSpPr>
          <p:cNvPr id="33" name="Future item 3"/>
          <p:cNvSpPr/>
          <p:nvPr/>
        </p:nvSpPr>
        <p:spPr>
          <a:xfrm>
            <a:off x="6858000" y="4123944"/>
            <a:ext cx="4782312" cy="914400"/>
          </a:xfrm>
          <a:prstGeom prst="roundRect">
            <a:avLst>
              <a:gd name="adj" fmla="val 8000"/>
            </a:avLst>
          </a:prstGeom>
          <a:solidFill>
            <a:schemeClr val="bg2"/>
          </a:solidFill>
          <a:ln/>
        </p:spPr>
        <p:txBody>
          <a:bodyPr/>
          <a:lstStyle/>
          <a:p>
            <a:endParaRPr lang="en-US"/>
          </a:p>
        </p:txBody>
      </p:sp>
      <p:sp>
        <p:nvSpPr>
          <p:cNvPr id="34" name="Import bank statements; export reports to PDF and Excel icon circle"/>
          <p:cNvSpPr/>
          <p:nvPr/>
        </p:nvSpPr>
        <p:spPr>
          <a:xfrm>
            <a:off x="7086600" y="4288536"/>
            <a:ext cx="585216" cy="585216"/>
          </a:xfrm>
          <a:prstGeom prst="ellipse">
            <a:avLst/>
          </a:prstGeom>
          <a:solidFill>
            <a:schemeClr val="accent1"/>
          </a:solidFill>
          <a:ln/>
        </p:spPr>
        <p:txBody>
          <a:bodyPr/>
          <a:lstStyle/>
          <a:p>
            <a:endParaRPr lang="en-US"/>
          </a:p>
        </p:txBody>
      </p:sp>
      <p:pic>
        <p:nvPicPr>
          <p:cNvPr id="35" name="Import bank statements; export reports to PDF and Excel icon" descr="Import bank statements; export reports to PDF and Excel icon"/>
          <p:cNvPicPr>
            <a:picLocks noChangeAspect="1"/>
          </p:cNvPicPr>
          <p:nvPr/>
        </p:nvPicPr>
        <p:blipFill>
          <a:blip r:embed="rId6"/>
          <a:stretch>
            <a:fillRect/>
          </a:stretch>
        </p:blipFill>
        <p:spPr>
          <a:xfrm>
            <a:off x="7244608" y="4446544"/>
            <a:ext cx="269199" cy="269199"/>
          </a:xfrm>
          <a:prstGeom prst="rect">
            <a:avLst/>
          </a:prstGeom>
        </p:spPr>
      </p:pic>
      <p:sp>
        <p:nvSpPr>
          <p:cNvPr id="36" name="Text 24"/>
          <p:cNvSpPr txBox="1"/>
          <p:nvPr/>
        </p:nvSpPr>
        <p:spPr>
          <a:xfrm>
            <a:off x="7863840" y="4123944"/>
            <a:ext cx="3657600" cy="914400"/>
          </a:xfrm>
          <a:prstGeom prst="rect">
            <a:avLst/>
          </a:prstGeom>
          <a:noFill/>
          <a:ln/>
        </p:spPr>
        <p:txBody>
          <a:bodyPr wrap="square" lIns="0" tIns="0" rIns="0" bIns="0" rtlCol="0" anchor="ctr"/>
          <a:lstStyle/>
          <a:p>
            <a:pPr marL="0" indent="0">
              <a:buNone/>
            </a:pPr>
            <a:r>
              <a:rPr lang="en-US" sz="1600" dirty="0">
                <a:solidFill>
                  <a:schemeClr val="tx1"/>
                </a:solidFill>
              </a:rPr>
              <a:t>Import bank statements; export reports to PDF and Excel</a:t>
            </a:r>
            <a:endParaRPr lang="en-US" sz="1600" dirty="0"/>
          </a:p>
        </p:txBody>
      </p:sp>
      <p:sp>
        <p:nvSpPr>
          <p:cNvPr id="37" name="Future item 4"/>
          <p:cNvSpPr/>
          <p:nvPr/>
        </p:nvSpPr>
        <p:spPr>
          <a:xfrm>
            <a:off x="6858000" y="5202936"/>
            <a:ext cx="4782312" cy="914400"/>
          </a:xfrm>
          <a:prstGeom prst="roundRect">
            <a:avLst>
              <a:gd name="adj" fmla="val 8000"/>
            </a:avLst>
          </a:prstGeom>
          <a:solidFill>
            <a:schemeClr val="bg2"/>
          </a:solidFill>
          <a:ln/>
        </p:spPr>
        <p:txBody>
          <a:bodyPr/>
          <a:lstStyle/>
          <a:p>
            <a:endParaRPr lang="en-US"/>
          </a:p>
        </p:txBody>
      </p:sp>
      <p:sp>
        <p:nvSpPr>
          <p:cNvPr id="38" name="HTTPS deployment, password reset and a mobile app icon circle"/>
          <p:cNvSpPr/>
          <p:nvPr/>
        </p:nvSpPr>
        <p:spPr>
          <a:xfrm>
            <a:off x="7086600" y="5367528"/>
            <a:ext cx="585216" cy="585216"/>
          </a:xfrm>
          <a:prstGeom prst="ellipse">
            <a:avLst/>
          </a:prstGeom>
          <a:solidFill>
            <a:schemeClr val="accent1"/>
          </a:solidFill>
          <a:ln/>
        </p:spPr>
        <p:txBody>
          <a:bodyPr/>
          <a:lstStyle/>
          <a:p>
            <a:endParaRPr lang="en-US"/>
          </a:p>
        </p:txBody>
      </p:sp>
      <p:pic>
        <p:nvPicPr>
          <p:cNvPr id="39" name="HTTPS deployment, password reset and a mobile app icon" descr="HTTPS deployment, password reset and a mobile app icon"/>
          <p:cNvPicPr>
            <a:picLocks noChangeAspect="1"/>
          </p:cNvPicPr>
          <p:nvPr/>
        </p:nvPicPr>
        <p:blipFill>
          <a:blip r:embed="rId7"/>
          <a:stretch>
            <a:fillRect/>
          </a:stretch>
        </p:blipFill>
        <p:spPr>
          <a:xfrm>
            <a:off x="7244608" y="5525536"/>
            <a:ext cx="269199" cy="269199"/>
          </a:xfrm>
          <a:prstGeom prst="rect">
            <a:avLst/>
          </a:prstGeom>
        </p:spPr>
      </p:pic>
      <p:sp>
        <p:nvSpPr>
          <p:cNvPr id="40" name="Text 27"/>
          <p:cNvSpPr txBox="1"/>
          <p:nvPr/>
        </p:nvSpPr>
        <p:spPr>
          <a:xfrm>
            <a:off x="7863840" y="5202936"/>
            <a:ext cx="3657600" cy="914400"/>
          </a:xfrm>
          <a:prstGeom prst="rect">
            <a:avLst/>
          </a:prstGeom>
          <a:noFill/>
          <a:ln/>
        </p:spPr>
        <p:txBody>
          <a:bodyPr wrap="square" lIns="0" tIns="0" rIns="0" bIns="0" rtlCol="0" anchor="ctr"/>
          <a:lstStyle/>
          <a:p>
            <a:pPr marL="0" indent="0">
              <a:buNone/>
            </a:pPr>
            <a:r>
              <a:rPr lang="en-US" sz="1600" dirty="0">
                <a:solidFill>
                  <a:schemeClr val="tx1"/>
                </a:solidFill>
              </a:rPr>
              <a:t>HTTPS deployment, password reset and a mobile app</a:t>
            </a:r>
            <a:endParaRPr lang="en-US" sz="1600" dirty="0"/>
          </a:p>
        </p:txBody>
      </p:sp>
      <p:sp>
        <p:nvSpPr>
          <p:cNvPr id="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0058400" cy="777240"/>
          </a:xfrm>
          <a:prstGeom prst="rect">
            <a:avLst/>
          </a:prstGeom>
          <a:noFill/>
          <a:ln/>
        </p:spPr>
        <p:txBody>
          <a:bodyPr wrap="square" lIns="0" tIns="0" rIns="0" bIns="0" rtlCol="0" anchor="ctr"/>
          <a:lstStyle/>
          <a:p>
            <a:pPr marL="0" indent="0" algn="l">
              <a:buNone/>
            </a:pPr>
            <a:r>
              <a:rPr lang="en-US" sz="3400" b="1" dirty="0">
                <a:solidFill>
                  <a:schemeClr val="tx2"/>
                </a:solidFill>
              </a:rPr>
              <a:t>References</a:t>
            </a:r>
            <a:endParaRPr lang="en-US" sz="3400" dirty="0"/>
          </a:p>
        </p:txBody>
      </p:sp>
      <p:sp>
        <p:nvSpPr>
          <p:cNvPr id="4" name="References column 1"/>
          <p:cNvSpPr/>
          <p:nvPr/>
        </p:nvSpPr>
        <p:spPr>
          <a:xfrm>
            <a:off x="548640" y="1371600"/>
            <a:ext cx="5440680" cy="4800600"/>
          </a:xfrm>
          <a:prstGeom prst="roundRect">
            <a:avLst>
              <a:gd name="adj" fmla="val 1524"/>
            </a:avLst>
          </a:prstGeom>
          <a:solidFill>
            <a:schemeClr val="bg2"/>
          </a:solidFill>
          <a:ln/>
        </p:spPr>
        <p:txBody>
          <a:bodyPr/>
          <a:lstStyle/>
          <a:p>
            <a:endParaRPr lang="en-US"/>
          </a:p>
        </p:txBody>
      </p:sp>
      <p:sp>
        <p:nvSpPr>
          <p:cNvPr id="5" name="Text 2"/>
          <p:cNvSpPr txBox="1"/>
          <p:nvPr/>
        </p:nvSpPr>
        <p:spPr>
          <a:xfrm>
            <a:off x="822960" y="1645920"/>
            <a:ext cx="4892040" cy="4389120"/>
          </a:xfrm>
          <a:prstGeom prst="rect">
            <a:avLst/>
          </a:prstGeom>
          <a:noFill/>
          <a:ln/>
        </p:spPr>
        <p:txBody>
          <a:bodyPr wrap="square" lIns="0" tIns="0" rIns="0" bIns="0" rtlCol="0" anchor="t"/>
          <a:lstStyle/>
          <a:p>
            <a:pPr marL="0" indent="0">
              <a:spcAft>
                <a:spcPts val="1400"/>
              </a:spcAft>
              <a:buNone/>
            </a:pPr>
            <a:r>
              <a:rPr lang="en-US" sz="1700" dirty="0">
                <a:solidFill>
                  <a:schemeClr val="tx1"/>
                </a:solidFill>
              </a:rPr>
              <a:t>[1]  McKinney, W. (2022). Python for Data Analysis (3rd ed.). O'Reilly Media.</a:t>
            </a:r>
            <a:endParaRPr lang="en-US" sz="1700" dirty="0"/>
          </a:p>
          <a:p>
            <a:pPr marL="0" indent="0">
              <a:spcAft>
                <a:spcPts val="1400"/>
              </a:spcAft>
              <a:buNone/>
            </a:pPr>
            <a:r>
              <a:rPr lang="en-US" sz="1700" dirty="0">
                <a:solidFill>
                  <a:schemeClr val="tx1"/>
                </a:solidFill>
              </a:rPr>
              <a:t>[2]  Hunter, J. D. (2007). Matplotlib: A 2D graphics environment. Computing in Science &amp; Engineering, 9(3), 90-95.</a:t>
            </a:r>
            <a:endParaRPr lang="en-US" sz="1700" dirty="0"/>
          </a:p>
          <a:p>
            <a:pPr marL="0" indent="0">
              <a:spcAft>
                <a:spcPts val="1400"/>
              </a:spcAft>
              <a:buNone/>
            </a:pPr>
            <a:r>
              <a:rPr lang="en-US" sz="1700" dirty="0">
                <a:solidFill>
                  <a:schemeClr val="tx1"/>
                </a:solidFill>
              </a:rPr>
              <a:t>[3]  pandas development team. pandas documentation. https://pandas.pydata.org/docs/</a:t>
            </a:r>
            <a:endParaRPr lang="en-US" sz="1700" dirty="0"/>
          </a:p>
          <a:p>
            <a:pPr marL="0" indent="0">
              <a:spcAft>
                <a:spcPts val="1400"/>
              </a:spcAft>
              <a:buNone/>
            </a:pPr>
            <a:r>
              <a:rPr lang="en-US" sz="1700" dirty="0">
                <a:solidFill>
                  <a:schemeClr val="tx1"/>
                </a:solidFill>
              </a:rPr>
              <a:t>[4]  Matplotlib development team. Matplotlib documentation. https://matplotlib.org/stable/</a:t>
            </a:r>
            <a:endParaRPr lang="en-US" sz="1700" dirty="0"/>
          </a:p>
          <a:p>
            <a:pPr marL="0" indent="0">
              <a:spcAft>
                <a:spcPts val="1400"/>
              </a:spcAft>
              <a:buNone/>
            </a:pPr>
            <a:r>
              <a:rPr lang="en-US" sz="1700" dirty="0">
                <a:solidFill>
                  <a:schemeClr val="tx1"/>
                </a:solidFill>
              </a:rPr>
              <a:t>[5]  Pallets Projects. Flask documentation. https://flask.palletsprojects.com/</a:t>
            </a:r>
            <a:endParaRPr lang="en-US" sz="1700" dirty="0"/>
          </a:p>
        </p:txBody>
      </p:sp>
      <p:sp>
        <p:nvSpPr>
          <p:cNvPr id="6" name="References column 2"/>
          <p:cNvSpPr/>
          <p:nvPr/>
        </p:nvSpPr>
        <p:spPr>
          <a:xfrm>
            <a:off x="6199632" y="1371600"/>
            <a:ext cx="5440680" cy="4800600"/>
          </a:xfrm>
          <a:prstGeom prst="roundRect">
            <a:avLst>
              <a:gd name="adj" fmla="val 1524"/>
            </a:avLst>
          </a:prstGeom>
          <a:solidFill>
            <a:schemeClr val="bg2"/>
          </a:solidFill>
          <a:ln/>
        </p:spPr>
        <p:txBody>
          <a:bodyPr/>
          <a:lstStyle/>
          <a:p>
            <a:endParaRPr lang="en-US"/>
          </a:p>
        </p:txBody>
      </p:sp>
      <p:sp>
        <p:nvSpPr>
          <p:cNvPr id="7" name="Text 4"/>
          <p:cNvSpPr txBox="1"/>
          <p:nvPr/>
        </p:nvSpPr>
        <p:spPr>
          <a:xfrm>
            <a:off x="6473952" y="1645920"/>
            <a:ext cx="4892040" cy="4389120"/>
          </a:xfrm>
          <a:prstGeom prst="rect">
            <a:avLst/>
          </a:prstGeom>
          <a:noFill/>
          <a:ln/>
        </p:spPr>
        <p:txBody>
          <a:bodyPr wrap="square" lIns="0" tIns="0" rIns="0" bIns="0" rtlCol="0" anchor="t"/>
          <a:lstStyle/>
          <a:p>
            <a:pPr marL="0" indent="0">
              <a:spcAft>
                <a:spcPts val="1400"/>
              </a:spcAft>
              <a:buNone/>
            </a:pPr>
            <a:r>
              <a:rPr lang="en-US" sz="1700" dirty="0">
                <a:solidFill>
                  <a:schemeClr val="tx1"/>
                </a:solidFill>
              </a:rPr>
              <a:t>[6]  Python Software Foundation. Python 3 documentation. https://docs.python.org/3/</a:t>
            </a:r>
            <a:endParaRPr lang="en-US" sz="1700" dirty="0"/>
          </a:p>
          <a:p>
            <a:pPr marL="0" indent="0">
              <a:spcAft>
                <a:spcPts val="1400"/>
              </a:spcAft>
              <a:buNone/>
            </a:pPr>
            <a:r>
              <a:rPr lang="en-US" sz="1700" dirty="0">
                <a:solidFill>
                  <a:schemeClr val="tx1"/>
                </a:solidFill>
              </a:rPr>
              <a:t>[7]  OWASP. Cross-Site Request Forgery Prevention Cheat Sheet. https://cheatsheetseries.owasp.org/</a:t>
            </a:r>
            <a:endParaRPr lang="en-US" sz="1700" dirty="0"/>
          </a:p>
          <a:p>
            <a:pPr marL="0" indent="0">
              <a:spcAft>
                <a:spcPts val="1400"/>
              </a:spcAft>
              <a:buNone/>
            </a:pPr>
            <a:r>
              <a:rPr lang="en-US" sz="1700" dirty="0">
                <a:solidFill>
                  <a:schemeClr val="tx1"/>
                </a:solidFill>
              </a:rPr>
              <a:t>[8]  OWASP. Password Storage Cheat Sheet. https://cheatsheetseries.owasp.org/</a:t>
            </a:r>
            <a:endParaRPr lang="en-US" sz="1700" dirty="0"/>
          </a:p>
          <a:p>
            <a:pPr marL="0" indent="0">
              <a:spcAft>
                <a:spcPts val="1400"/>
              </a:spcAft>
              <a:buNone/>
            </a:pPr>
            <a:r>
              <a:rPr lang="en-US" sz="1700" dirty="0">
                <a:solidFill>
                  <a:schemeClr val="tx1"/>
                </a:solidFill>
              </a:rPr>
              <a:t>[9]  Microsoft. Python in Visual Studio Code. https://code.visualstudio.com/docs/python/python-tutorial</a:t>
            </a:r>
            <a:endParaRPr lang="en-US" sz="1700" dirty="0"/>
          </a:p>
          <a:p>
            <a:pPr marL="0" indent="0">
              <a:spcAft>
                <a:spcPts val="1400"/>
              </a:spcAft>
              <a:buNone/>
            </a:pPr>
            <a:r>
              <a:rPr lang="en-US" sz="1700" dirty="0">
                <a:solidFill>
                  <a:schemeClr val="tx1"/>
                </a:solidFill>
              </a:rPr>
              <a:t>[10]  Sommerville, I. (2016). Software Engineering (10th ed.). Pearson.</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C"/>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Ledger Navy">
  <a:themeElements>
    <a:clrScheme name="Ledger Navy">
      <a:dk1>
        <a:srgbClr val="1C2530"/>
      </a:dk1>
      <a:lt1>
        <a:srgbClr val="FFFFFF"/>
      </a:lt1>
      <a:dk2>
        <a:srgbClr val="162B47"/>
      </a:dk2>
      <a:lt2>
        <a:srgbClr val="EEF1F5"/>
      </a:lt2>
      <a:accent1>
        <a:srgbClr val="1F3A5F"/>
      </a:accent1>
      <a:accent2>
        <a:srgbClr val="B08D57"/>
      </a:accent2>
      <a:accent3>
        <a:srgbClr val="4F7396"/>
      </a:accent3>
      <a:accent4>
        <a:srgbClr val="3F5D4A"/>
      </a:accent4>
      <a:accent5>
        <a:srgbClr val="8C5E58"/>
      </a:accent5>
      <a:accent6>
        <a:srgbClr val="5B6B7C"/>
      </a:accent6>
      <a:hlink>
        <a:srgbClr val="1F3A5F"/>
      </a:hlink>
      <a:folHlink>
        <a:srgbClr val="5B6B7C"/>
      </a:folHlink>
    </a:clrScheme>
    <a:fontScheme name="Ledger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1892</Words>
  <Application>Microsoft Macintosh PowerPoint</Application>
  <PresentationFormat>Widescreen</PresentationFormat>
  <Paragraphs>328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Ledger Navy</vt:lpstr>
      <vt:lpstr>Personal Expense Tracker and Analysis System</vt:lpstr>
      <vt:lpstr>Introduction</vt:lpstr>
      <vt:lpstr>Problem Statement</vt:lpstr>
      <vt:lpstr>Objectives and Expected Outcomes</vt:lpstr>
      <vt:lpstr>Scope of the Project</vt:lpstr>
      <vt:lpstr>Literature Review and Existing Systems</vt:lpstr>
      <vt:lpstr>Proposed System</vt:lpstr>
      <vt:lpstr>Project Methodology</vt:lpstr>
      <vt:lpstr>Internal Structure: Architecture and Modules</vt:lpstr>
      <vt:lpstr>Internal Structure: Data Flow and Database</vt:lpstr>
      <vt:lpstr>Implementation: Dashboard and Data Entry</vt:lpstr>
      <vt:lpstr>Implementation: Category Charts</vt:lpstr>
      <vt:lpstr>Implementation: Trend and Distribution Charts</vt:lpstr>
      <vt:lpstr>Testing and Results</vt:lpstr>
      <vt:lpstr>Conclusion and Future Scope</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Expense Tracker and Analysis System - Project Review</dc:title>
  <dc:subject>Final year project review</dc:subject>
  <dc:creator>PptxGenJS</dc:creator>
  <cp:lastModifiedBy>Office</cp:lastModifiedBy>
  <cp:revision>2</cp:revision>
  <dcterms:created xsi:type="dcterms:W3CDTF">2026-10-27T11:48:04Z</dcterms:created>
  <dcterms:modified xsi:type="dcterms:W3CDTF">2026-10-27T11:57:22Z</dcterms:modified>
</cp:coreProperties>
</file>